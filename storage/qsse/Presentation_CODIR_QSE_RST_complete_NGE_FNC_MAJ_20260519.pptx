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wide_clean_vector_illustration_or_stylized_digi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2" y="960120"/>
            <a:ext cx="5897880" cy="3319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5989320" cy="6400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6199632"/>
            <a:ext cx="12191695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9" name="Image 1" descr="/mnt/data/nge_logo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7"/>
                </a:solidFill>
              </a:rPr>
              <a:t>CODIR QSE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640080" y="18745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630"/>
                </a:solidFill>
              </a:rPr>
              <a:t>Performance &amp; feuille de route laboratoire</a:t>
            </a:r>
            <a:endParaRPr lang="en-US" sz="2500" dirty="0"/>
          </a:p>
        </p:txBody>
      </p:sp>
      <p:sp>
        <p:nvSpPr>
          <p:cNvPr id="12" name="Text 8"/>
          <p:cNvSpPr/>
          <p:nvPr/>
        </p:nvSpPr>
        <p:spPr>
          <a:xfrm>
            <a:off x="640080" y="27706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</a:rPr>
              <a:t>Analyse FNC / FAE / BP / remontées d’informations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</a:rPr>
              <a:t>Trimestre passé · trimestre en cours · évolution N / N-1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986784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10565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Contribution RST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4048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C2-LIMITÉ : Propriété de NGE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SOMMAIRE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CODIR QSE · séquence Performance / Contribution RST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17320" y="1865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Synthèse du trimestre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559552" y="1883664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trimestre passé, trimestre en cours, N / N-1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85800" y="2450592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5603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2532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Performance FNC / FAE / BP / infos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559552" y="2551176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répartition, familles dominantes, qualité de traitement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85800" y="3118104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3227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417320" y="32004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Plan d’actions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559552" y="3218688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actions réalisées, en cours, en retard, points à suivre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85800" y="3785616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389534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17320" y="38679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Bonnes pratiques &amp; remontées d’informations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559552" y="3886200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capitalisation, signaux faibles, REX potentiels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85800" y="4453128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" y="45628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17320" y="4535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Feuille de route laboratoire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559552" y="455371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planification, compétences, métrologie, méthodes, outils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85800" y="5120640"/>
            <a:ext cx="10744200" cy="512064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248" y="5230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AE43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17320" y="52029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C77"/>
                </a:solidFill>
              </a:rPr>
              <a:t>Point méthodologique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559552" y="5221224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E6A78"/>
                </a:solidFill>
              </a:rPr>
              <a:t>remontées tardives 2025 suivies à part</a:t>
            </a:r>
            <a:endParaRPr lang="en-US" sz="1120" dirty="0"/>
          </a:p>
        </p:txBody>
      </p:sp>
      <p:sp>
        <p:nvSpPr>
          <p:cNvPr id="34" name="Text 3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4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965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PERFORMANCE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880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</a:rPr>
              <a:t>Analyse des écarts &amp; remontées terrain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93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</a:rPr>
              <a:t>FNC · FAE · BP · remontées d’informations · actions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SYNTHÈSE DE LECTURE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passé · trimestre en cours · évolution année N / N-1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002C7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874520"/>
            <a:ext cx="3401568" cy="1645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2C77"/>
                </a:solidFill>
              </a:rPr>
              <a:t>TRIMESTRE PASSÉ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4672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Bilan consolidé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04672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données complètes, familles dominantes, actions clôturées / ouvertes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62272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D3AE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62272" y="1874520"/>
            <a:ext cx="3401568" cy="1645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26864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3AE43"/>
                </a:solidFill>
              </a:rPr>
              <a:t>TRIMESTRE EN COURS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26864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Suivi à date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6864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événements ouverts, actions en cours, points de vigilance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84464" y="1874520"/>
            <a:ext cx="34015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7780">
            <a:solidFill>
              <a:srgbClr val="3B6D1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84464" y="1874520"/>
            <a:ext cx="3401568" cy="1645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49056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3B6D11"/>
                </a:solidFill>
              </a:rPr>
              <a:t>ÉVOLUTION N / N-1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49056" y="260604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630"/>
                </a:solidFill>
              </a:rPr>
              <a:t>Même période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449056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tendance volume, traitement, BP / REX et actions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85800" y="47274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2C77"/>
                </a:solidFill>
              </a:rPr>
              <a:t>Lecture CODIR : faits, indicateurs, actions, échéances et points de vigilance.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PASSÉ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 consolidé · données fermées du trimestre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783080"/>
            <a:ext cx="91440" cy="10789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66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696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FNC hors éléments suivis à part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1783080"/>
            <a:ext cx="91440" cy="10789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3580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9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03580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FAE / environnement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498348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1783080"/>
            <a:ext cx="91440" cy="10789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30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18464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Bonnes pratiques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713232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1783080"/>
            <a:ext cx="91440" cy="10789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3348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330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733348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Remontées d’infos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28116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81160" y="1783080"/>
            <a:ext cx="91440" cy="10789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8232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854F0B"/>
                </a:solidFill>
              </a:rPr>
              <a:t>101 k€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948232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Coût renseigné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914400" y="34015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FNC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429000" y="343814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29000" y="3438144"/>
            <a:ext cx="1444752" cy="12801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762488" y="33741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66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14400" y="38130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FAE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429000" y="384962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29000" y="3849624"/>
            <a:ext cx="197012" cy="12801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62488" y="37856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</a:rPr>
              <a:t>9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14400" y="42245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BP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429000" y="426110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29000" y="4261104"/>
            <a:ext cx="656705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762488" y="41970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30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14400" y="46360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Infos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429000" y="4672584"/>
            <a:ext cx="72237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29000" y="4672584"/>
            <a:ext cx="7223760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762488" y="4608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330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31520" y="53492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630"/>
                </a:solidFill>
              </a:rPr>
              <a:t>Lecture : bilan consolidé du trimestre passé, hors remontées tardives suivies à part.</a:t>
            </a:r>
            <a:endParaRPr lang="en-US" sz="1450" dirty="0"/>
          </a:p>
        </p:txBody>
      </p:sp>
      <p:sp>
        <p:nvSpPr>
          <p:cNvPr id="47" name="Text 4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TRIMESTRE EN COURS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Suivi à date · événements ouverts et échéances à suivre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783080"/>
            <a:ext cx="91440" cy="107899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11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696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FNC à date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4640" y="1783080"/>
            <a:ext cx="91440" cy="107899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3580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6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03580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FAE à date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498348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83480" y="1783080"/>
            <a:ext cx="91440" cy="1078992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8464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13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518464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BP à date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713232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1783080"/>
            <a:ext cx="91440" cy="1078992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3348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99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733348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Infos à date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281160" y="1783080"/>
            <a:ext cx="2011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81160" y="1783080"/>
            <a:ext cx="91440" cy="107899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82328" y="1892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854F0B"/>
                </a:solidFill>
              </a:rPr>
              <a:t>9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9482328" y="2286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Actions ouvertes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868680" y="3730752"/>
            <a:ext cx="10241280" cy="73152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49808" y="3630168"/>
            <a:ext cx="274320" cy="2743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1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70448" y="3630168"/>
            <a:ext cx="274320" cy="2743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0991088" y="3630168"/>
            <a:ext cx="274320" cy="274320"/>
          </a:xfrm>
          <a:prstGeom prst="ellipse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698480" y="39593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630"/>
                </a:solidFill>
              </a:rPr>
              <a:t>Mois 3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Le trimestre en cours reste une lecture à date : les tendances se stabilisent à la clôture du trimestre.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ÉVOLUTION FNC N / N-1</a:t>
            </a:r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Comparaison 2025 / 2026 · volume, coût et concentration</a:t>
            </a:r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" y="1865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FNC total</a:t>
            </a:r>
          </a:p>
        </p:txBody>
      </p:sp>
      <p:sp>
        <p:nvSpPr>
          <p:cNvPr id="11" name="Text 8"/>
          <p:cNvSpPr/>
          <p:nvPr/>
        </p:nvSpPr>
        <p:spPr>
          <a:xfrm>
            <a:off x="2743200" y="18013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2025</a:t>
            </a:r>
          </a:p>
        </p:txBody>
      </p:sp>
      <p:sp>
        <p:nvSpPr>
          <p:cNvPr id="12" name="Shape 9"/>
          <p:cNvSpPr/>
          <p:nvPr/>
        </p:nvSpPr>
        <p:spPr>
          <a:xfrm>
            <a:off x="3154680" y="186537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154680" y="1865376"/>
            <a:ext cx="598516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86600" y="180136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2026</a:t>
            </a:r>
          </a:p>
        </p:txBody>
      </p:sp>
      <p:sp>
        <p:nvSpPr>
          <p:cNvPr id="15" name="Shape 12"/>
          <p:cNvSpPr/>
          <p:nvPr/>
        </p:nvSpPr>
        <p:spPr>
          <a:xfrm>
            <a:off x="7406640" y="186537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406640" y="1865376"/>
            <a:ext cx="731520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839712" y="18288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240</a:t>
            </a:r>
          </a:p>
        </p:txBody>
      </p:sp>
      <p:sp>
        <p:nvSpPr>
          <p:cNvPr id="18" name="Text 15"/>
          <p:cNvSpPr/>
          <p:nvPr/>
        </p:nvSpPr>
        <p:spPr>
          <a:xfrm>
            <a:off x="11119104" y="182880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165</a:t>
            </a:r>
          </a:p>
        </p:txBody>
      </p:sp>
      <p:sp>
        <p:nvSpPr>
          <p:cNvPr id="19" name="Text 16"/>
          <p:cNvSpPr/>
          <p:nvPr/>
        </p:nvSpPr>
        <p:spPr>
          <a:xfrm>
            <a:off x="804672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Coût déclaré</a:t>
            </a:r>
          </a:p>
        </p:txBody>
      </p:sp>
      <p:sp>
        <p:nvSpPr>
          <p:cNvPr id="20" name="Text 17"/>
          <p:cNvSpPr/>
          <p:nvPr/>
        </p:nvSpPr>
        <p:spPr>
          <a:xfrm>
            <a:off x="2743200" y="239572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2025</a:t>
            </a:r>
          </a:p>
        </p:txBody>
      </p:sp>
      <p:sp>
        <p:nvSpPr>
          <p:cNvPr id="21" name="Shape 18"/>
          <p:cNvSpPr/>
          <p:nvPr/>
        </p:nvSpPr>
        <p:spPr>
          <a:xfrm>
            <a:off x="3154680" y="245973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3154680" y="2459736"/>
            <a:ext cx="91440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86600" y="23957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2026</a:t>
            </a:r>
          </a:p>
        </p:txBody>
      </p:sp>
      <p:sp>
        <p:nvSpPr>
          <p:cNvPr id="24" name="Shape 21"/>
          <p:cNvSpPr/>
          <p:nvPr/>
        </p:nvSpPr>
        <p:spPr>
          <a:xfrm>
            <a:off x="7406640" y="245973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7406640" y="2459736"/>
            <a:ext cx="99753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839712" y="242316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304 k€</a:t>
            </a:r>
          </a:p>
        </p:txBody>
      </p:sp>
      <p:sp>
        <p:nvSpPr>
          <p:cNvPr id="27" name="Text 24"/>
          <p:cNvSpPr/>
          <p:nvPr/>
        </p:nvSpPr>
        <p:spPr>
          <a:xfrm>
            <a:off x="11119104" y="242316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643 k€</a:t>
            </a:r>
          </a:p>
        </p:txBody>
      </p:sp>
      <p:sp>
        <p:nvSpPr>
          <p:cNvPr id="28" name="Text 25"/>
          <p:cNvSpPr/>
          <p:nvPr/>
        </p:nvSpPr>
        <p:spPr>
          <a:xfrm>
            <a:off x="804672" y="3054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FNC avec coût</a:t>
            </a:r>
          </a:p>
        </p:txBody>
      </p:sp>
      <p:sp>
        <p:nvSpPr>
          <p:cNvPr id="29" name="Text 26"/>
          <p:cNvSpPr/>
          <p:nvPr/>
        </p:nvSpPr>
        <p:spPr>
          <a:xfrm>
            <a:off x="2743200" y="2990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2025</a:t>
            </a:r>
          </a:p>
        </p:txBody>
      </p:sp>
      <p:sp>
        <p:nvSpPr>
          <p:cNvPr id="30" name="Shape 27"/>
          <p:cNvSpPr/>
          <p:nvPr/>
        </p:nvSpPr>
        <p:spPr>
          <a:xfrm>
            <a:off x="3154680" y="305409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3154680" y="3054096"/>
            <a:ext cx="199505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086600" y="299008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2026</a:t>
            </a:r>
          </a:p>
        </p:txBody>
      </p:sp>
      <p:sp>
        <p:nvSpPr>
          <p:cNvPr id="33" name="Shape 30"/>
          <p:cNvSpPr/>
          <p:nvPr/>
        </p:nvSpPr>
        <p:spPr>
          <a:xfrm>
            <a:off x="7406640" y="305409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406640" y="3054096"/>
            <a:ext cx="332509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839712" y="30175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66%</a:t>
            </a:r>
          </a:p>
        </p:txBody>
      </p:sp>
      <p:sp>
        <p:nvSpPr>
          <p:cNvPr id="36" name="Text 33"/>
          <p:cNvSpPr/>
          <p:nvPr/>
        </p:nvSpPr>
        <p:spPr>
          <a:xfrm>
            <a:off x="11119104" y="301752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76%</a:t>
            </a:r>
          </a:p>
        </p:txBody>
      </p:sp>
      <p:sp>
        <p:nvSpPr>
          <p:cNvPr id="37" name="Text 34"/>
          <p:cNvSpPr/>
          <p:nvPr/>
        </p:nvSpPr>
        <p:spPr>
          <a:xfrm>
            <a:off x="804672" y="3648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Top 3 agences</a:t>
            </a:r>
          </a:p>
        </p:txBody>
      </p:sp>
      <p:sp>
        <p:nvSpPr>
          <p:cNvPr id="38" name="Text 35"/>
          <p:cNvSpPr/>
          <p:nvPr/>
        </p:nvSpPr>
        <p:spPr>
          <a:xfrm>
            <a:off x="2743200" y="358444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2025</a:t>
            </a:r>
          </a:p>
        </p:txBody>
      </p:sp>
      <p:sp>
        <p:nvSpPr>
          <p:cNvPr id="39" name="Shape 36"/>
          <p:cNvSpPr/>
          <p:nvPr/>
        </p:nvSpPr>
        <p:spPr>
          <a:xfrm>
            <a:off x="3154680" y="364845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3154680" y="3648456"/>
            <a:ext cx="2327564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086600" y="358444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2026</a:t>
            </a:r>
          </a:p>
        </p:txBody>
      </p:sp>
      <p:sp>
        <p:nvSpPr>
          <p:cNvPr id="42" name="Shape 39"/>
          <p:cNvSpPr/>
          <p:nvPr/>
        </p:nvSpPr>
        <p:spPr>
          <a:xfrm>
            <a:off x="7406640" y="364845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7406640" y="3648456"/>
            <a:ext cx="3657600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6839712" y="36118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64%</a:t>
            </a:r>
          </a:p>
        </p:txBody>
      </p:sp>
      <p:sp>
        <p:nvSpPr>
          <p:cNvPr id="45" name="Text 42"/>
          <p:cNvSpPr/>
          <p:nvPr/>
        </p:nvSpPr>
        <p:spPr>
          <a:xfrm>
            <a:off x="11119104" y="36118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76%</a:t>
            </a:r>
          </a:p>
        </p:txBody>
      </p:sp>
      <p:sp>
        <p:nvSpPr>
          <p:cNvPr id="46" name="Text 43"/>
          <p:cNvSpPr/>
          <p:nvPr/>
        </p:nvSpPr>
        <p:spPr>
          <a:xfrm>
            <a:off x="804672" y="4242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Agence n°1</a:t>
            </a:r>
          </a:p>
        </p:txBody>
      </p:sp>
      <p:sp>
        <p:nvSpPr>
          <p:cNvPr id="47" name="Text 44"/>
          <p:cNvSpPr/>
          <p:nvPr/>
        </p:nvSpPr>
        <p:spPr>
          <a:xfrm>
            <a:off x="2743200" y="417880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2025</a:t>
            </a:r>
          </a:p>
        </p:txBody>
      </p:sp>
      <p:sp>
        <p:nvSpPr>
          <p:cNvPr id="48" name="Shape 45"/>
          <p:cNvSpPr/>
          <p:nvPr/>
        </p:nvSpPr>
        <p:spPr>
          <a:xfrm>
            <a:off x="3154680" y="424281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3154680" y="4242816"/>
            <a:ext cx="155171" cy="146304"/>
          </a:xfrm>
          <a:prstGeom prst="rect">
            <a:avLst/>
          </a:prstGeom>
          <a:solidFill>
            <a:srgbClr val="D9E1EA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086600" y="417880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2026</a:t>
            </a:r>
          </a:p>
        </p:txBody>
      </p:sp>
      <p:sp>
        <p:nvSpPr>
          <p:cNvPr id="51" name="Shape 48"/>
          <p:cNvSpPr/>
          <p:nvPr/>
        </p:nvSpPr>
        <p:spPr>
          <a:xfrm>
            <a:off x="7406640" y="4242816"/>
            <a:ext cx="3657600" cy="146304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7406640" y="4242816"/>
            <a:ext cx="199505" cy="14630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6839712" y="4206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31%</a:t>
            </a:r>
          </a:p>
        </p:txBody>
      </p:sp>
      <p:sp>
        <p:nvSpPr>
          <p:cNvPr id="54" name="Text 51"/>
          <p:cNvSpPr/>
          <p:nvPr/>
        </p:nvSpPr>
        <p:spPr>
          <a:xfrm>
            <a:off x="11119104" y="420624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54%</a:t>
            </a:r>
          </a:p>
        </p:txBody>
      </p:sp>
      <p:sp>
        <p:nvSpPr>
          <p:cNvPr id="55" name="Shape 52"/>
          <p:cNvSpPr/>
          <p:nvPr/>
        </p:nvSpPr>
        <p:spPr>
          <a:xfrm>
            <a:off x="822960" y="5303520"/>
            <a:ext cx="103784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/>
          <p:nvPr/>
        </p:nvSpPr>
        <p:spPr>
          <a:xfrm>
            <a:off x="1005840" y="5468112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Source QSSE au 19/05/2026. Le volume baisse de 31%, mais le coût déclaré est multiplié par 2,1 et la concentration agence se renforce.</a:t>
            </a:r>
          </a:p>
        </p:txBody>
      </p:sp>
      <p:sp>
        <p:nvSpPr>
          <p:cNvPr id="57" name="Text 5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RÉPARTITION FNC 2026</a:t>
            </a:r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Concentration par agence sur l'exercice</a:t>
            </a:r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89 / RL GT / 54%</a:t>
            </a:r>
          </a:p>
        </p:txBody>
      </p:sp>
      <p:sp>
        <p:nvSpPr>
          <p:cNvPr id="12" name="Text 9"/>
          <p:cNvSpPr/>
          <p:nvPr/>
        </p:nvSpPr>
        <p:spPr>
          <a:xfrm>
            <a:off x="91440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89 / RL GT / 54%</a:t>
            </a:r>
          </a:p>
        </p:txBody>
      </p:sp>
      <p:sp>
        <p:nvSpPr>
          <p:cNvPr id="13" name="Text 10"/>
          <p:cNvSpPr/>
          <p:nvPr/>
        </p:nvSpPr>
        <p:spPr>
          <a:xfrm>
            <a:off x="91440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15%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2044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3B6D11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0332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23 / RL TU / 14%</a:t>
            </a:r>
          </a:p>
        </p:txBody>
      </p:sp>
      <p:sp>
        <p:nvSpPr>
          <p:cNvPr id="16" name="Text 13"/>
          <p:cNvSpPr/>
          <p:nvPr/>
        </p:nvSpPr>
        <p:spPr>
          <a:xfrm>
            <a:off x="370332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23 / RL TU / 14%</a:t>
            </a:r>
          </a:p>
        </p:txBody>
      </p:sp>
      <p:sp>
        <p:nvSpPr>
          <p:cNvPr id="17" name="Text 14"/>
          <p:cNvSpPr/>
          <p:nvPr/>
        </p:nvSpPr>
        <p:spPr>
          <a:xfrm>
            <a:off x="370332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2%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49224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13 / AIN / 8%</a:t>
            </a:r>
          </a:p>
        </p:txBody>
      </p:sp>
      <p:sp>
        <p:nvSpPr>
          <p:cNvPr id="20" name="Text 17"/>
          <p:cNvSpPr/>
          <p:nvPr/>
        </p:nvSpPr>
        <p:spPr>
          <a:xfrm>
            <a:off x="649224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 / AIN / 8%</a:t>
            </a:r>
          </a:p>
        </p:txBody>
      </p:sp>
      <p:sp>
        <p:nvSpPr>
          <p:cNvPr id="21" name="Text 18"/>
          <p:cNvSpPr/>
          <p:nvPr/>
        </p:nvSpPr>
        <p:spPr>
          <a:xfrm>
            <a:off x="649224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7%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98280" y="182880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651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281160" y="21214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40 / Autres / 24%</a:t>
            </a:r>
          </a:p>
        </p:txBody>
      </p:sp>
      <p:sp>
        <p:nvSpPr>
          <p:cNvPr id="24" name="Text 21"/>
          <p:cNvSpPr/>
          <p:nvPr/>
        </p:nvSpPr>
        <p:spPr>
          <a:xfrm>
            <a:off x="928116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40 / Autres / 24%</a:t>
            </a:r>
          </a:p>
        </p:txBody>
      </p:sp>
      <p:sp>
        <p:nvSpPr>
          <p:cNvPr id="25" name="Text 22"/>
          <p:cNvSpPr/>
          <p:nvPr/>
        </p:nvSpPr>
        <p:spPr>
          <a:xfrm>
            <a:off x="9281160" y="30998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A78"/>
                </a:solidFill>
              </a:rPr>
              <a:t>76%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14400" y="470916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A32D2D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987552" y="4786884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RL GT</a:t>
            </a:r>
          </a:p>
        </p:txBody>
      </p:sp>
      <p:sp>
        <p:nvSpPr>
          <p:cNvPr id="28" name="Text 25"/>
          <p:cNvSpPr/>
          <p:nvPr/>
        </p:nvSpPr>
        <p:spPr>
          <a:xfrm>
            <a:off x="1737360" y="47914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principal foyer 2026</a:t>
            </a:r>
          </a:p>
        </p:txBody>
      </p:sp>
      <p:sp>
        <p:nvSpPr>
          <p:cNvPr id="29" name="Shape 26"/>
          <p:cNvSpPr/>
          <p:nvPr/>
        </p:nvSpPr>
        <p:spPr>
          <a:xfrm>
            <a:off x="914400" y="5093208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3B6D11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987552" y="5170932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RL TU</a:t>
            </a:r>
          </a:p>
        </p:txBody>
      </p:sp>
      <p:sp>
        <p:nvSpPr>
          <p:cNvPr id="31" name="Text 28"/>
          <p:cNvSpPr/>
          <p:nvPr/>
        </p:nvSpPr>
        <p:spPr>
          <a:xfrm>
            <a:off x="1737360" y="51755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2e foyer 2026</a:t>
            </a:r>
          </a:p>
        </p:txBody>
      </p:sp>
      <p:sp>
        <p:nvSpPr>
          <p:cNvPr id="32" name="Shape 29"/>
          <p:cNvSpPr/>
          <p:nvPr/>
        </p:nvSpPr>
        <p:spPr>
          <a:xfrm>
            <a:off x="6172200" y="4709160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002C77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245352" y="4786884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AIN</a:t>
            </a:r>
          </a:p>
        </p:txBody>
      </p:sp>
      <p:sp>
        <p:nvSpPr>
          <p:cNvPr id="34" name="Text 31"/>
          <p:cNvSpPr/>
          <p:nvPr/>
        </p:nvSpPr>
        <p:spPr>
          <a:xfrm>
            <a:off x="6995160" y="479145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3e foyer 2026</a:t>
            </a:r>
          </a:p>
        </p:txBody>
      </p:sp>
      <p:sp>
        <p:nvSpPr>
          <p:cNvPr id="35" name="Shape 32"/>
          <p:cNvSpPr/>
          <p:nvPr/>
        </p:nvSpPr>
        <p:spPr>
          <a:xfrm>
            <a:off x="6172200" y="5093208"/>
            <a:ext cx="68580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3970">
            <a:solidFill>
              <a:srgbClr val="D3AE43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245352" y="5170932"/>
            <a:ext cx="539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RESTE</a:t>
            </a:r>
          </a:p>
        </p:txBody>
      </p:sp>
      <p:sp>
        <p:nvSpPr>
          <p:cNvPr id="37" name="Text 34"/>
          <p:cNvSpPr/>
          <p:nvPr/>
        </p:nvSpPr>
        <p:spPr>
          <a:xfrm>
            <a:off x="6995160" y="51755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 agences restantes</a:t>
            </a:r>
          </a:p>
        </p:txBody>
      </p:sp>
      <p:sp>
        <p:nvSpPr>
          <p:cNvPr id="38" name="Text 3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FOCUS FNC 2026</a:t>
            </a:r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Volume, exposition financière et qualité de pilotage</a:t>
            </a:r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724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165</a:t>
            </a:r>
          </a:p>
        </p:txBody>
      </p:sp>
      <p:sp>
        <p:nvSpPr>
          <p:cNvPr id="11" name="Text 8"/>
          <p:cNvSpPr/>
          <p:nvPr/>
        </p:nvSpPr>
        <p:spPr>
          <a:xfrm>
            <a:off x="77724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FNC 2026</a:t>
            </a:r>
          </a:p>
        </p:txBody>
      </p:sp>
      <p:sp>
        <p:nvSpPr>
          <p:cNvPr id="12" name="Text 9"/>
          <p:cNvSpPr/>
          <p:nvPr/>
        </p:nvSpPr>
        <p:spPr>
          <a:xfrm>
            <a:off x="315468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76%</a:t>
            </a:r>
          </a:p>
        </p:txBody>
      </p:sp>
      <p:sp>
        <p:nvSpPr>
          <p:cNvPr id="13" name="Text 10"/>
          <p:cNvSpPr/>
          <p:nvPr/>
        </p:nvSpPr>
        <p:spPr>
          <a:xfrm>
            <a:off x="31546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avec coût renseigné</a:t>
            </a:r>
          </a:p>
        </p:txBody>
      </p:sp>
      <p:sp>
        <p:nvSpPr>
          <p:cNvPr id="14" name="Text 11"/>
          <p:cNvSpPr/>
          <p:nvPr/>
        </p:nvSpPr>
        <p:spPr>
          <a:xfrm>
            <a:off x="566928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643 k€</a:t>
            </a:r>
          </a:p>
        </p:txBody>
      </p:sp>
      <p:sp>
        <p:nvSpPr>
          <p:cNvPr id="15" name="Text 12"/>
          <p:cNvSpPr/>
          <p:nvPr/>
        </p:nvSpPr>
        <p:spPr>
          <a:xfrm>
            <a:off x="56692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coût déclaré</a:t>
            </a:r>
          </a:p>
        </p:txBody>
      </p:sp>
      <p:sp>
        <p:nvSpPr>
          <p:cNvPr id="16" name="Text 13"/>
          <p:cNvSpPr/>
          <p:nvPr/>
        </p:nvSpPr>
        <p:spPr>
          <a:xfrm>
            <a:off x="8321040" y="1828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-31%</a:t>
            </a:r>
          </a:p>
        </p:txBody>
      </p:sp>
      <p:sp>
        <p:nvSpPr>
          <p:cNvPr id="17" name="Text 14"/>
          <p:cNvSpPr/>
          <p:nvPr/>
        </p:nvSpPr>
        <p:spPr>
          <a:xfrm>
            <a:off x="832104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vs 2025</a:t>
            </a:r>
          </a:p>
        </p:txBody>
      </p:sp>
      <p:sp>
        <p:nvSpPr>
          <p:cNvPr id="18" name="Shape 15"/>
          <p:cNvSpPr/>
          <p:nvPr/>
        </p:nvSpPr>
        <p:spPr>
          <a:xfrm>
            <a:off x="82296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15 causes absentes (9%)</a:t>
            </a:r>
          </a:p>
        </p:txBody>
      </p:sp>
      <p:sp>
        <p:nvSpPr>
          <p:cNvPr id="20" name="Shape 17"/>
          <p:cNvSpPr/>
          <p:nvPr/>
        </p:nvSpPr>
        <p:spPr>
          <a:xfrm>
            <a:off x="452628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9087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162 actions définies (98%)</a:t>
            </a:r>
          </a:p>
        </p:txBody>
      </p:sp>
      <p:sp>
        <p:nvSpPr>
          <p:cNvPr id="22" name="Shape 19"/>
          <p:cNvSpPr/>
          <p:nvPr/>
        </p:nvSpPr>
        <p:spPr>
          <a:xfrm>
            <a:off x="8229600" y="3657600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37947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4 pilotes identifiés (2%)</a:t>
            </a:r>
          </a:p>
        </p:txBody>
      </p:sp>
      <p:sp>
        <p:nvSpPr>
          <p:cNvPr id="24" name="Shape 21"/>
          <p:cNvSpPr/>
          <p:nvPr/>
        </p:nvSpPr>
        <p:spPr>
          <a:xfrm>
            <a:off x="822960" y="4315968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  <p:txBody>
          <a:bodyPr/>
          <a:p>
            <a:r>
              <a:t>Clôture : 0% lue / à fiabiliser</a:t>
            </a:r>
          </a:p>
        </p:txBody>
      </p:sp>
      <p:sp>
        <p:nvSpPr>
          <p:cNvPr id="25" name="Text 22"/>
          <p:cNvSpPr/>
          <p:nvPr/>
        </p:nvSpPr>
        <p:spPr>
          <a:xfrm>
            <a:off x="987552" y="44531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RL GT : 89 FNC (54%)</a:t>
            </a:r>
          </a:p>
        </p:txBody>
      </p:sp>
      <p:sp>
        <p:nvSpPr>
          <p:cNvPr id="26" name="Shape 23"/>
          <p:cNvSpPr/>
          <p:nvPr/>
        </p:nvSpPr>
        <p:spPr>
          <a:xfrm>
            <a:off x="4526280" y="4315968"/>
            <a:ext cx="32461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90872" y="44531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clôtures avec preuve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FAE / ENVIRONNEMENT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Événements, actions immédiates et suivi terrain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828800"/>
            <a:ext cx="91440" cy="11430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6D11"/>
                </a:solidFill>
              </a:rPr>
              <a:t>14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3268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Incidents env.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56616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1828800"/>
            <a:ext cx="91440" cy="11430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6732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32D2D"/>
                </a:solidFill>
              </a:rPr>
              <a:t>15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76732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Casses réseaux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640080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9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660196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1/4h env.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923544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35440" y="1828800"/>
            <a:ext cx="91440" cy="1143000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3660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3AE43"/>
                </a:solidFill>
              </a:rPr>
              <a:t>1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943660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Test urgence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896112" y="3794760"/>
            <a:ext cx="502920" cy="50292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241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49047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66751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Fait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136392" y="3794760"/>
            <a:ext cx="502920" cy="50292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8269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73075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290779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Impact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7667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52297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97103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37" name="Text 34"/>
          <p:cNvSpPr/>
          <p:nvPr/>
        </p:nvSpPr>
        <p:spPr>
          <a:xfrm>
            <a:off x="514807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Action immédiate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61695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6325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211312" y="4041648"/>
            <a:ext cx="1463040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headEnd type="none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738835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Action préventive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857232" y="3794760"/>
            <a:ext cx="502920" cy="502920"/>
          </a:xfrm>
          <a:prstGeom prst="ellipse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003536" y="3941064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628632" y="4434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630"/>
                </a:solidFill>
              </a:rPr>
              <a:t>Preuve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77240" y="534924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2C77"/>
                </a:solidFill>
              </a:rPr>
              <a:t>Lecture : distinguer les événements environnement des FNC qualité, tout en suivant actions et preuves.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BONNES PRATIQUES &amp; REX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Capitaliser ce qui fonctionne et le rendre diffusable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31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3268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BP identifiées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342900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2900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016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17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63016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RL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363016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principal contributeur</a:t>
            </a:r>
            <a:endParaRPr lang="en-US" sz="730" dirty="0"/>
          </a:p>
        </p:txBody>
      </p:sp>
      <p:sp>
        <p:nvSpPr>
          <p:cNvPr id="19" name="Shape 16"/>
          <p:cNvSpPr/>
          <p:nvPr/>
        </p:nvSpPr>
        <p:spPr>
          <a:xfrm>
            <a:off x="612648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764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6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632764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AUV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632764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à valoriser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8823960" y="18288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23960" y="1828800"/>
            <a:ext cx="91440" cy="1143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25128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2C77"/>
                </a:solidFill>
              </a:rPr>
              <a:t>6</a:t>
            </a:r>
            <a:endParaRPr lang="en-US" sz="2300" dirty="0"/>
          </a:p>
        </p:txBody>
      </p:sp>
      <p:sp>
        <p:nvSpPr>
          <p:cNvPr id="27" name="Text 24"/>
          <p:cNvSpPr/>
          <p:nvPr/>
        </p:nvSpPr>
        <p:spPr>
          <a:xfrm>
            <a:off x="9025128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630"/>
                </a:solidFill>
              </a:rPr>
              <a:t>LHL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9025128" y="2679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5E6A78"/>
                </a:solidFill>
              </a:rPr>
              <a:t>à valoriser</a:t>
            </a:r>
            <a:endParaRPr lang="en-US" sz="730" dirty="0"/>
          </a:p>
        </p:txBody>
      </p:sp>
      <p:sp>
        <p:nvSpPr>
          <p:cNvPr id="29" name="Shape 26"/>
          <p:cNvSpPr/>
          <p:nvPr/>
        </p:nvSpPr>
        <p:spPr>
          <a:xfrm>
            <a:off x="868680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1832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Détection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2377440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3081528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54680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Validation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4590288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294376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67528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Format</a:t>
            </a:r>
            <a:endParaRPr lang="en-US" sz="980" dirty="0"/>
          </a:p>
        </p:txBody>
      </p:sp>
      <p:sp>
        <p:nvSpPr>
          <p:cNvPr id="37" name="Shape 34"/>
          <p:cNvSpPr/>
          <p:nvPr/>
        </p:nvSpPr>
        <p:spPr>
          <a:xfrm>
            <a:off x="6803136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507224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0376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Diffusion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9015984" y="4087368"/>
            <a:ext cx="566928" cy="0"/>
          </a:xfrm>
          <a:prstGeom prst="line">
            <a:avLst/>
          </a:prstGeom>
          <a:noFill/>
          <a:ln w="19050">
            <a:solidFill>
              <a:srgbClr val="D9E1EA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720072" y="382219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93224" y="4014216"/>
            <a:ext cx="1298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Standard</a:t>
            </a:r>
            <a:endParaRPr lang="en-US" sz="980" dirty="0"/>
          </a:p>
        </p:txBody>
      </p:sp>
      <p:sp>
        <p:nvSpPr>
          <p:cNvPr id="43" name="Text 40"/>
          <p:cNvSpPr/>
          <p:nvPr/>
        </p:nvSpPr>
        <p:spPr>
          <a:xfrm>
            <a:off x="777240" y="53218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630"/>
                </a:solidFill>
              </a:rPr>
              <a:t>Une bonne pratique devient utile lorsqu’elle est validée, rendue simple et diffusée.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REMONTÉES D’INFORMATIONS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Signaux faibles et sujets à qualifier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6868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Plan indice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Risque météo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75320" y="18745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0756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Matériel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6868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Interface MOE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Méthode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275320" y="2788920"/>
            <a:ext cx="31546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D3AE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58200" y="299008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54F0B"/>
                </a:solidFill>
              </a:rPr>
              <a:t>Traçabilité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05840" y="438912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34440" y="46268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2C77"/>
                </a:solidFill>
              </a:rPr>
              <a:t>Une remontée peut rester une information, devenir FNC, FAE, BP ou action préventive.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FAMILLES DOMINANTES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 qui ressort réellement du trimestre passé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1920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Erreur / rigueur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956816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956816"/>
            <a:ext cx="7772400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19688" y="18928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24871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Technique / interfaces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37560" y="2523744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37560" y="2523744"/>
            <a:ext cx="3587262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219688" y="245973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0540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Méthode de travail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37560" y="3090672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3090672"/>
            <a:ext cx="2092569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19688" y="302666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3621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Absence contrôle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3657600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37560" y="3657600"/>
            <a:ext cx="179363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219688" y="359359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" y="41879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Communication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37560" y="4224528"/>
            <a:ext cx="777240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37560" y="4224528"/>
            <a:ext cx="179363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219688" y="41605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77240" y="52578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630"/>
                </a:solidFill>
              </a:rPr>
              <a:t>Lecture : suivre les familles récurrentes plutôt que commenter les fiches une par une.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QUALITÉ DE TRAITEMENT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Cause · action · pilote · échéance · preuve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1874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Cause renseignée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911096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911096"/>
            <a:ext cx="5991149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73968" y="18470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78%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4414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Action définie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2478024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478024"/>
            <a:ext cx="5069434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73968" y="24140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66%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" y="300837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Pilote identifié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383280" y="3044952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83280" y="3044952"/>
            <a:ext cx="5530291" cy="128016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73968" y="29809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C77"/>
                </a:solidFill>
              </a:rPr>
              <a:t>72%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3575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Échéance renseignée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83280" y="3611880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83280" y="3611880"/>
            <a:ext cx="4454957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73968" y="35478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58%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68680" y="41422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2630"/>
                </a:solidFill>
              </a:rPr>
              <a:t>Clôture avec preuve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83280" y="4178808"/>
            <a:ext cx="7680960" cy="128016"/>
          </a:xfrm>
          <a:prstGeom prst="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83280" y="4178808"/>
            <a:ext cx="3533242" cy="12801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73968" y="41148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AE43"/>
                </a:solidFill>
              </a:rPr>
              <a:t>46%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68680" y="5074920"/>
            <a:ext cx="10149840" cy="566928"/>
          </a:xfrm>
          <a:prstGeom prst="roundRect">
            <a:avLst>
              <a:gd name="adj" fmla="val 9677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51560" y="5276088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7"/>
                </a:solidFill>
              </a:rPr>
              <a:t>Point à suivre : une fiche sans cause, action ou pilote reste un constat non exploité.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D’ACTIONS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Réalisé · en cours · en retard · à suivre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097280" y="1938528"/>
            <a:ext cx="4206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11680"/>
            <a:ext cx="4133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Sujet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303520" y="1938528"/>
            <a:ext cx="205740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0096" y="2011680"/>
            <a:ext cx="1984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Pilote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7360920" y="1938528"/>
            <a:ext cx="13258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97496" y="2011680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Échéance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8686800" y="1938528"/>
            <a:ext cx="20116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23376" y="2011680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Statut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1097280" y="2267712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2322576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Typologie des causes FNC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5303520" y="2267712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0096" y="2322576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RST / Qualité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360920" y="2267712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97496" y="2322576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686800" y="226771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23376" y="232257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En cours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1097280" y="2743200"/>
            <a:ext cx="4206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33856" y="2798064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FAE environnement : cadre de suivi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5303520" y="2743200"/>
            <a:ext cx="20574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0096" y="2798064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QSE / exploitation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7360920" y="2743200"/>
            <a:ext cx="13258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97496" y="2798064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8686800" y="2743200"/>
            <a:ext cx="20116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23376" y="2798064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structurer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1097280" y="321868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33856" y="327355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Diffusion BP / supports 1/4h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5303520" y="3218688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0096" y="3273552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Qualité / agences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7360920" y="3218688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97496" y="3273552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T2-T3</a:t>
            </a:r>
            <a:endParaRPr lang="en-US" sz="920" dirty="0"/>
          </a:p>
        </p:txBody>
      </p:sp>
      <p:sp>
        <p:nvSpPr>
          <p:cNvPr id="40" name="Shape 37"/>
          <p:cNvSpPr/>
          <p:nvPr/>
        </p:nvSpPr>
        <p:spPr>
          <a:xfrm>
            <a:off x="8686800" y="321868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723376" y="327355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lancer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1097280" y="3694176"/>
            <a:ext cx="420624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33856" y="37490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Actions en retard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5303520" y="3694176"/>
            <a:ext cx="20574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40096" y="3749040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Pilotes actions</a:t>
            </a:r>
            <a:endParaRPr lang="en-US" sz="920" dirty="0"/>
          </a:p>
        </p:txBody>
      </p:sp>
      <p:sp>
        <p:nvSpPr>
          <p:cNvPr id="46" name="Shape 43"/>
          <p:cNvSpPr/>
          <p:nvPr/>
        </p:nvSpPr>
        <p:spPr>
          <a:xfrm>
            <a:off x="7360920" y="3694176"/>
            <a:ext cx="13258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97496" y="374904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date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8686800" y="3694176"/>
            <a:ext cx="201168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723376" y="374904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À suivre</a:t>
            </a:r>
            <a:endParaRPr lang="en-US" sz="920" dirty="0"/>
          </a:p>
        </p:txBody>
      </p:sp>
      <p:sp>
        <p:nvSpPr>
          <p:cNvPr id="50" name="Shape 47"/>
          <p:cNvSpPr/>
          <p:nvPr/>
        </p:nvSpPr>
        <p:spPr>
          <a:xfrm>
            <a:off x="1097280" y="4169664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33856" y="4224528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Traitement des fiches incomplètes</a:t>
            </a:r>
            <a:endParaRPr lang="en-US" sz="920" dirty="0"/>
          </a:p>
        </p:txBody>
      </p:sp>
      <p:sp>
        <p:nvSpPr>
          <p:cNvPr id="52" name="Shape 49"/>
          <p:cNvSpPr/>
          <p:nvPr/>
        </p:nvSpPr>
        <p:spPr>
          <a:xfrm>
            <a:off x="5303520" y="4169664"/>
            <a:ext cx="2057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40096" y="4224528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Responsables</a:t>
            </a:r>
            <a:endParaRPr lang="en-US" sz="920" dirty="0"/>
          </a:p>
        </p:txBody>
      </p:sp>
      <p:sp>
        <p:nvSpPr>
          <p:cNvPr id="54" name="Shape 51"/>
          <p:cNvSpPr/>
          <p:nvPr/>
        </p:nvSpPr>
        <p:spPr>
          <a:xfrm>
            <a:off x="7360920" y="4169664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397496" y="4224528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T2</a:t>
            </a:r>
            <a:endParaRPr lang="en-US" sz="920" dirty="0"/>
          </a:p>
        </p:txBody>
      </p:sp>
      <p:sp>
        <p:nvSpPr>
          <p:cNvPr id="56" name="Shape 53"/>
          <p:cNvSpPr/>
          <p:nvPr/>
        </p:nvSpPr>
        <p:spPr>
          <a:xfrm>
            <a:off x="8686800" y="416966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723376" y="4224528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630"/>
                </a:solidFill>
              </a:rPr>
              <a:t>En cours</a:t>
            </a:r>
            <a:endParaRPr lang="en-US" sz="920" dirty="0"/>
          </a:p>
        </p:txBody>
      </p:sp>
      <p:sp>
        <p:nvSpPr>
          <p:cNvPr id="58" name="Text 55"/>
          <p:cNvSpPr/>
          <p:nvPr/>
        </p:nvSpPr>
        <p:spPr>
          <a:xfrm>
            <a:off x="1005840" y="5230368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7"/>
                </a:solidFill>
              </a:rPr>
              <a:t>Lecture : état d’avancement, actions en retard, points à suivre.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POINTS DE VIGILANCE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Suivi du trimestre en cours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77240" y="1828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A3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19933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</a:rPr>
              <a:t>Actions en retard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8408" y="23317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pilotage et échéances à fiabiliser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0" y="18288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854F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01968" y="199339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</a:rPr>
              <a:t>Fiches incomplètes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01968" y="233172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cause / action / pilote / coût ou justification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30632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322783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C77"/>
                </a:solidFill>
              </a:rPr>
              <a:t>Familles récurrentes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78408" y="35661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interfaces, méthode, contrôle, communication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0" y="306324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3B6D1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01968" y="322783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6D11"/>
                </a:solidFill>
              </a:rPr>
              <a:t>Sujets laboratoire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01968" y="3566160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A78"/>
                </a:solidFill>
              </a:rPr>
              <a:t>compétences, métrologie, équipements, méthodes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pic>
        <p:nvPicPr>
          <p:cNvPr id="4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1965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FEUILLE DE ROUTE LABORATOIRE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2880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</a:rPr>
              <a:t>Avancement · points de vigilance · prochaines échéances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4930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</a:rPr>
              <a:t>Contribution RST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 axes issus du travail de préparation audit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8580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Planification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2044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4845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Traçabilité technique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8309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Compétences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89720" y="182880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17736" y="2075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Équipements / métrologie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580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Urgences / prévention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52044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4845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630"/>
                </a:solidFill>
              </a:rPr>
              <a:t>Outils digitaux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299923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002C77"/>
          </a:solidFill>
          <a:ln w="15240">
            <a:solidFill>
              <a:srgbClr val="002C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83096" y="3246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Appui technique chantier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074920"/>
            <a:ext cx="1014984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25780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C77"/>
                </a:solidFill>
              </a:rPr>
              <a:t>Lecture CODIR : avancement, échéances et points de vigilance du service laboratoire.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Planification du service et interface exploitation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Structurer la planification du service et l’interface avec l’exploitation.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Visibilité sur la charge, priorisation partagée, anticipation des besoins exploitation / chantier.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Planification plus lisible, partagée, distinguant les vraies urgences des ajustements subis.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Consolider un support partagé de planification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les éléments de visibilité transmis par l’exploitation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exploitation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règles de priorisation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point régulier charge / priorités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Tracer les arbitrages sur les demandes sensibles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Traçabilité technique et qualité des restitutions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Fiabiliser la traçabilité technique et la qualité des restitutions.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Constats formalisés, relecture des rapports, traçabilité des écarts et retours terrain.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Constats, non-conformités, relectures et restitutions homogènes, lisibles et exploitables.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Déployer l’usage des constats laboratoire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la relecture des rapports avant envoi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structuration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Harmoniser les modalités de restitution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Formaliser NC, retours terrain et REX utiles au service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temps régulier de retour sur écarts significatifs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3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Compétences du service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Mettre à jour et piloter les compétences du service.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Tableau DST renseigné, autonomie par essai lisible, besoins de montée en compétence identifiés.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Vision claire des compétences, de la polyvalence et des besoins d’accompagnement de l’équipe.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à jour le tableau officiel DST compétences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niveaux d’autonomie par type d’essai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Identifier les besoins de montée en compétence prioritaires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Organiser transmission et compagnonnage sur essais clés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formaliser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Suivre la polyvalence de l’équipe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4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Équipements de mesure et suivi associé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Reprendre la maîtrise des équipements de mesure et du suivi associé.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Inventaire équipements, documents associés centralisés, visibilité sur l’état et le suivi matériel.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Suivi matériel simple, partagé et démontrable, incluant étalonnages et documents de suivi.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Recenser les équipements de mesure du laboratoire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Centraliser les documents associés, notamment étalonnages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Identifier équipements critiques et points de vigilance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Mettre en place un support partagé de suivi matériel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Fiabiliser disponibilité et état des équipements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Responsables labo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Prévention et gestion des situations d’urgence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Mieux structurer la prévention et la gestion des situations d’urgence.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Cadre de gestion des urgences, remontées sécurité lisibles, prévention intégrée aux interventions.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Gestion des urgences, remontées sécurité et dispositions prévention plus lisibles et démontrables.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Formaliser une logique de gestion des situations d’urgence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QSSE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Définir priorisation, escalade et repli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remontées presqu’accidents et constats sécurité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Resp. labo + QSSE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la prévention à la préparation des interventions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formalisation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Réaliser un exercice ou une mise en situation d’urgence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QSSE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programmer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6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Outils digitaux de pilotage et traçabilité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Déployer des outils digitaux utiles au pilotage et à la traçabilité.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Meilleure traçabilité des demandes, interventions, constats et restitutions.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Outils simples pour suivre l’activité, partager l’information et sécuriser les étapes clés.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les outils de suivi des demandes et interventions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S1 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Tracer demande, préparation, intervention et restitution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structuration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Intégrer constats et relecture dans les outils de suivi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Centraliser les documents utiles au pilotage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Clarifier les règles d’usage des supports digitaux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FEUILLE DE ROUTE LABORATOIRE — AXE 7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Laboratoire comme appui technique à la décision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1719072"/>
            <a:ext cx="11155680" cy="1078992"/>
          </a:xfrm>
          <a:prstGeom prst="roundRect">
            <a:avLst>
              <a:gd name="adj" fmla="val 5085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87452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OBJECTIF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65960" y="181965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630"/>
                </a:solidFill>
              </a:rPr>
              <a:t>Renforcer le rôle du laboratoire comme appui technique à la décision et à la préparation de chantier.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3232" y="22128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INDICATEUR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965960" y="215798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Implication visible dans la préparation, lecture technique des résultats et aide à la décision.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13232" y="25146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65960" y="245973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A78"/>
                </a:solidFill>
              </a:rPr>
              <a:t>Laboratoire plus visible, anticipé et intégré aux besoins chantier.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521208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163824"/>
            <a:ext cx="5138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25312" y="3090672"/>
            <a:ext cx="192024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316382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Pilote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45552" y="3090672"/>
            <a:ext cx="1188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82128" y="316382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Délai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034272" y="3090672"/>
            <a:ext cx="2331720" cy="329184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70848" y="3163824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État / efficacité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13232" y="3419856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" y="347472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Renforcer l’implication du laboratoire dans la préparation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25312" y="3419856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61888" y="34747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responsables labo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845552" y="3419856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82128" y="3474720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034272" y="3419856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0848" y="347472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consolider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3232" y="3813048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38679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Structurer le retour technique utile au chantier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925312" y="3813048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61888" y="3867912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845552" y="3813048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386791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034272" y="3813048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070848" y="386791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13232" y="4206240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4261104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Anticiper besoins de contrôle, interprétation et appui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925312" y="4206240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61888" y="426110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 + exploitation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845552" y="4206240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82128" y="4261104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9034272" y="4206240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70848" y="4261104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structurer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13232" y="4599432"/>
            <a:ext cx="521208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9808" y="465429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Capitaliser les sujets techniques à valeur ajoutée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5925312" y="4599432"/>
            <a:ext cx="192024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61888" y="4654296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7845552" y="4599432"/>
            <a:ext cx="1188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82128" y="4654296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9034272" y="4599432"/>
            <a:ext cx="2331720" cy="393192"/>
          </a:xfrm>
          <a:prstGeom prst="rect">
            <a:avLst/>
          </a:prstGeom>
          <a:solidFill>
            <a:srgbClr val="F5F7FA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070848" y="465429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À lancer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13232" y="4992624"/>
            <a:ext cx="52120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49808" y="504748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Maintenir l’ouverture sur sujets techniques et environnementaux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25312" y="4992624"/>
            <a:ext cx="19202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61888" y="504748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RST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845552" y="4992624"/>
            <a:ext cx="1188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882128" y="504748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2026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034272" y="4992624"/>
            <a:ext cx="23317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070848" y="504748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630"/>
                </a:solidFill>
              </a:rPr>
              <a:t>En cours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NOTE MÉTHODOLOGIQUE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Remontées tardives 2025 suivies à part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143000" y="1965960"/>
            <a:ext cx="9784080" cy="1828800"/>
          </a:xfrm>
          <a:prstGeom prst="roundRect">
            <a:avLst>
              <a:gd name="adj" fmla="val 4000"/>
            </a:avLst>
          </a:prstGeom>
          <a:solidFill>
            <a:srgbClr val="FFF9ED"/>
          </a:solidFill>
          <a:ln w="16510">
            <a:solidFill>
              <a:srgbClr val="D3AE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8760" y="233172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630"/>
                </a:solidFill>
              </a:rPr>
              <a:t>Certaines FNC rattachées à des faits 2025 ont été remontées tardivement.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08760" y="278892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A78"/>
                </a:solidFill>
              </a:rPr>
              <a:t>Elles sont suivies à part afin de ne pas fausser la lecture opérationnelle du trimestre ni l’évolution N / N-1.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508760" y="324612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854F0B"/>
                </a:solidFill>
              </a:rPr>
              <a:t>Cette note reste méthodologique : elle ne porte pas la présentation.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27648"/>
            <a:ext cx="12191695" cy="8229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9944"/>
            <a:ext cx="12191695" cy="44805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pic>
        <p:nvPicPr>
          <p:cNvPr id="5" name="Image 0" descr="/mnt/data/nge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777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SYNTHÈSE À SUIVRE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512064" y="126187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A7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Performance QSE &amp; feuille de route laboratoire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62288" y="228600"/>
            <a:ext cx="254203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62872" y="338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C77"/>
                </a:solidFill>
              </a:rPr>
              <a:t>Contribution 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22960" y="1691640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810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Trimestre passé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749040" y="181051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bilan consolidé et familles dominantes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22960" y="2350008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468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Trimestre en cours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749040" y="24688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suivi à date, actions ouvertes et vigilance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22960" y="3008376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127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Évolution N / N-1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749040" y="3127248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même période, hors éléments suivis à part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822960" y="3666744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7F9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785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Plan d’actions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749040" y="37856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réalisé, en cours, en retard, à suivre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22960" y="4325112"/>
            <a:ext cx="10424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443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7"/>
                </a:solidFill>
              </a:rPr>
              <a:t>Feuille de route labo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749040" y="4443984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F2630"/>
                </a:solidFill>
              </a:rPr>
              <a:t>compétences, métrologie, équipements, méthodes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77"/>
          </a:solidFill>
          <a:ln w="12700">
            <a:solidFill>
              <a:srgbClr val="002C77"/>
            </a:solidFill>
            <a:prstDash val="solid"/>
          </a:ln>
        </p:spPr>
      </p:sp>
      <p:pic>
        <p:nvPicPr>
          <p:cNvPr id="3" name="Image 0" descr="/mnt/data/ng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1168"/>
            <a:ext cx="960120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PERFORMANCE QSE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26974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1FA"/>
                </a:solidFill>
              </a:rPr>
              <a:t>Analyse des écarts · feuille de route laboratoire · contribution RST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0" y="5394960"/>
            <a:ext cx="12191695" cy="219456"/>
          </a:xfrm>
          <a:prstGeom prst="rect">
            <a:avLst/>
          </a:prstGeom>
          <a:solidFill>
            <a:srgbClr val="D3AE43"/>
          </a:solidFill>
          <a:ln w="12700">
            <a:solidFill>
              <a:srgbClr val="D3AE4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10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C2-LIMITÉ : Propriété de NGE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29284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CODIR QSE - Performance &amp; feuille de route laboratoire</dc:title>
  <dc:subject>CODIR QSE - Performance / RST</dc:subject>
  <dc:creator>OpenAI</dc:creator>
  <cp:lastModifiedBy>OpenAI</cp:lastModifiedBy>
  <cp:revision>1</cp:revision>
  <dcterms:created xsi:type="dcterms:W3CDTF">2026-05-19T18:05:41Z</dcterms:created>
  <dcterms:modified xsi:type="dcterms:W3CDTF">2026-05-19T18:05:41Z</dcterms:modified>
</cp:coreProperties>
</file>