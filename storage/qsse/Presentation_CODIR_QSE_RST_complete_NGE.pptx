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27648"/>
            <a:ext cx="12191695" cy="82296"/>
          </a:xfrm>
          <a:prstGeom prst="rect">
            <a:avLst/>
          </a:prstGeom>
          <a:solidFill>
            <a:srgbClr val="D3AE43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9944"/>
            <a:ext cx="12191695" cy="448056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pic>
        <p:nvPicPr>
          <p:cNvPr id="5" name="Image 0" descr="/mnt/data/wide_clean_vector_illustration_or_stylized_digi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8192" y="960120"/>
            <a:ext cx="5897880" cy="33192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0"/>
            <a:ext cx="5989320" cy="64008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327648"/>
            <a:ext cx="12191695" cy="530352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6199632"/>
            <a:ext cx="12191695" cy="128016"/>
          </a:xfrm>
          <a:prstGeom prst="rect">
            <a:avLst/>
          </a:prstGeom>
          <a:solidFill>
            <a:srgbClr val="D3AE43"/>
          </a:solidFill>
          <a:ln w="12700">
            <a:solidFill>
              <a:srgbClr val="D3AE43"/>
            </a:solidFill>
            <a:prstDash val="solid"/>
          </a:ln>
        </p:spPr>
      </p:sp>
      <p:pic>
        <p:nvPicPr>
          <p:cNvPr id="9" name="Image 1" descr="/mnt/data/nge_logo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01168"/>
            <a:ext cx="960120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" y="12344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2C77"/>
                </a:solidFill>
              </a:rPr>
              <a:t>CODIR QSE</a:t>
            </a:r>
            <a:endParaRPr lang="en-US" sz="3200" dirty="0"/>
          </a:p>
        </p:txBody>
      </p:sp>
      <p:sp>
        <p:nvSpPr>
          <p:cNvPr id="11" name="Text 7"/>
          <p:cNvSpPr/>
          <p:nvPr/>
        </p:nvSpPr>
        <p:spPr>
          <a:xfrm>
            <a:off x="640080" y="187452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2630"/>
                </a:solidFill>
              </a:rPr>
              <a:t>Performance &amp; feuille de route laboratoire</a:t>
            </a:r>
            <a:endParaRPr lang="en-US" sz="2500" dirty="0"/>
          </a:p>
        </p:txBody>
      </p:sp>
      <p:sp>
        <p:nvSpPr>
          <p:cNvPr id="12" name="Text 8"/>
          <p:cNvSpPr/>
          <p:nvPr/>
        </p:nvSpPr>
        <p:spPr>
          <a:xfrm>
            <a:off x="640080" y="2770632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E6A78"/>
                </a:solidFill>
              </a:rPr>
              <a:t>Analyse FNC / FAE / BP / remontées d’informations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5E6A78"/>
                </a:solidFill>
              </a:rPr>
              <a:t>Trimestre passé · trimestre en cours · évolution N / N-1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640080" y="3986784"/>
            <a:ext cx="2331720" cy="420624"/>
          </a:xfrm>
          <a:prstGeom prst="roundRect">
            <a:avLst>
              <a:gd name="adj" fmla="val 13043"/>
            </a:avLst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22960" y="4105656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Contribution RST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384048" y="651052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C2-LIMITÉ : Propriété de NGE</a:t>
            </a:r>
            <a:endParaRPr lang="en-US" sz="650" dirty="0"/>
          </a:p>
        </p:txBody>
      </p:sp>
      <p:sp>
        <p:nvSpPr>
          <p:cNvPr id="16" name="Text 12"/>
          <p:cNvSpPr/>
          <p:nvPr/>
        </p:nvSpPr>
        <p:spPr>
          <a:xfrm>
            <a:off x="11292840" y="64556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27648"/>
            <a:ext cx="12191695" cy="82296"/>
          </a:xfrm>
          <a:prstGeom prst="rect">
            <a:avLst/>
          </a:prstGeom>
          <a:solidFill>
            <a:srgbClr val="D3AE43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9944"/>
            <a:ext cx="12191695" cy="448056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pic>
        <p:nvPicPr>
          <p:cNvPr id="5" name="Image 0" descr="/mnt/data/nge_logo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01168"/>
            <a:ext cx="960120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7772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SOMMAIRE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512064" y="126187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E6A7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CODIR QSE · séquence Performance / Contribution RST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9162288" y="228600"/>
            <a:ext cx="254203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262872" y="338328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7"/>
                </a:solidFill>
              </a:rPr>
              <a:t>Contribution RST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685800" y="1783080"/>
            <a:ext cx="1074420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1248" y="189280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3AE43"/>
                </a:solidFill>
              </a:rPr>
              <a:t>01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417320" y="1865376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2C77"/>
                </a:solidFill>
              </a:rPr>
              <a:t>Synthèse du trimestre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5559552" y="1883664"/>
            <a:ext cx="5623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E6A78"/>
                </a:solidFill>
              </a:rPr>
              <a:t>trimestre passé, trimestre en cours, N / N-1</a:t>
            </a:r>
            <a:endParaRPr lang="en-US" sz="1120" dirty="0"/>
          </a:p>
        </p:txBody>
      </p:sp>
      <p:sp>
        <p:nvSpPr>
          <p:cNvPr id="14" name="Shape 11"/>
          <p:cNvSpPr/>
          <p:nvPr/>
        </p:nvSpPr>
        <p:spPr>
          <a:xfrm>
            <a:off x="685800" y="2450592"/>
            <a:ext cx="10744200" cy="512064"/>
          </a:xfrm>
          <a:prstGeom prst="roundRect">
            <a:avLst>
              <a:gd name="adj" fmla="val 10714"/>
            </a:avLst>
          </a:prstGeom>
          <a:solidFill>
            <a:srgbClr val="F8FAFC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41248" y="25603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3AE43"/>
                </a:solidFill>
              </a:rPr>
              <a:t>02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417320" y="2532888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2C77"/>
                </a:solidFill>
              </a:rPr>
              <a:t>Performance FNC / FAE / BP / infos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5559552" y="2551176"/>
            <a:ext cx="5623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E6A78"/>
                </a:solidFill>
              </a:rPr>
              <a:t>répartition, familles dominantes, qualité de traitement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685800" y="3118104"/>
            <a:ext cx="1074420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41248" y="32278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3AE43"/>
                </a:solidFill>
              </a:rPr>
              <a:t>03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417320" y="320040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2C77"/>
                </a:solidFill>
              </a:rPr>
              <a:t>Plan d’actions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5559552" y="3218688"/>
            <a:ext cx="5623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E6A78"/>
                </a:solidFill>
              </a:rPr>
              <a:t>actions réalisées, en cours, en retard, points à suivre</a:t>
            </a:r>
            <a:endParaRPr lang="en-US" sz="1120" dirty="0"/>
          </a:p>
        </p:txBody>
      </p:sp>
      <p:sp>
        <p:nvSpPr>
          <p:cNvPr id="22" name="Shape 19"/>
          <p:cNvSpPr/>
          <p:nvPr/>
        </p:nvSpPr>
        <p:spPr>
          <a:xfrm>
            <a:off x="685800" y="3785616"/>
            <a:ext cx="10744200" cy="512064"/>
          </a:xfrm>
          <a:prstGeom prst="roundRect">
            <a:avLst>
              <a:gd name="adj" fmla="val 10714"/>
            </a:avLst>
          </a:prstGeom>
          <a:solidFill>
            <a:srgbClr val="F8FAFC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41248" y="389534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3AE43"/>
                </a:solidFill>
              </a:rPr>
              <a:t>04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417320" y="3867912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2C77"/>
                </a:solidFill>
              </a:rPr>
              <a:t>Bonnes pratiques &amp; remontées d’informations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5559552" y="3886200"/>
            <a:ext cx="5623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E6A78"/>
                </a:solidFill>
              </a:rPr>
              <a:t>capitalisation, signaux faibles, REX potentiels</a:t>
            </a:r>
            <a:endParaRPr lang="en-US" sz="1120" dirty="0"/>
          </a:p>
        </p:txBody>
      </p:sp>
      <p:sp>
        <p:nvSpPr>
          <p:cNvPr id="26" name="Shape 23"/>
          <p:cNvSpPr/>
          <p:nvPr/>
        </p:nvSpPr>
        <p:spPr>
          <a:xfrm>
            <a:off x="685800" y="4453128"/>
            <a:ext cx="1074420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41248" y="456285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3AE43"/>
                </a:solidFill>
              </a:rPr>
              <a:t>05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1417320" y="4535424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2C77"/>
                </a:solidFill>
              </a:rPr>
              <a:t>Feuille de route laboratoire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5559552" y="4553712"/>
            <a:ext cx="5623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E6A78"/>
                </a:solidFill>
              </a:rPr>
              <a:t>planification, compétences, métrologie, méthodes, outils</a:t>
            </a:r>
            <a:endParaRPr lang="en-US" sz="1120" dirty="0"/>
          </a:p>
        </p:txBody>
      </p:sp>
      <p:sp>
        <p:nvSpPr>
          <p:cNvPr id="30" name="Shape 27"/>
          <p:cNvSpPr/>
          <p:nvPr/>
        </p:nvSpPr>
        <p:spPr>
          <a:xfrm>
            <a:off x="685800" y="5120640"/>
            <a:ext cx="10744200" cy="512064"/>
          </a:xfrm>
          <a:prstGeom prst="roundRect">
            <a:avLst>
              <a:gd name="adj" fmla="val 10714"/>
            </a:avLst>
          </a:prstGeom>
          <a:solidFill>
            <a:srgbClr val="F8FAFC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41248" y="523036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3AE43"/>
                </a:solidFill>
              </a:rPr>
              <a:t>06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1417320" y="5202936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2C77"/>
                </a:solidFill>
              </a:rPr>
              <a:t>Point méthodologique</a:t>
            </a:r>
            <a:endParaRPr lang="en-US" sz="1350" dirty="0"/>
          </a:p>
        </p:txBody>
      </p:sp>
      <p:sp>
        <p:nvSpPr>
          <p:cNvPr id="33" name="Text 30"/>
          <p:cNvSpPr/>
          <p:nvPr/>
        </p:nvSpPr>
        <p:spPr>
          <a:xfrm>
            <a:off x="5559552" y="5221224"/>
            <a:ext cx="5623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E6A78"/>
                </a:solidFill>
              </a:rPr>
              <a:t>remontées tardives 2025 suivies à part</a:t>
            </a:r>
            <a:endParaRPr lang="en-US" sz="1120" dirty="0"/>
          </a:p>
        </p:txBody>
      </p:sp>
      <p:sp>
        <p:nvSpPr>
          <p:cNvPr id="34" name="Text 31"/>
          <p:cNvSpPr/>
          <p:nvPr/>
        </p:nvSpPr>
        <p:spPr>
          <a:xfrm>
            <a:off x="384048" y="651052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C2-LIMITÉ : Propriété de NGE</a:t>
            </a:r>
            <a:endParaRPr lang="en-US" sz="650" dirty="0"/>
          </a:p>
        </p:txBody>
      </p:sp>
      <p:sp>
        <p:nvSpPr>
          <p:cNvPr id="35" name="Text 32"/>
          <p:cNvSpPr/>
          <p:nvPr/>
        </p:nvSpPr>
        <p:spPr>
          <a:xfrm>
            <a:off x="11292840" y="64556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2C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40680"/>
            <a:ext cx="12191695" cy="219456"/>
          </a:xfrm>
          <a:prstGeom prst="rect">
            <a:avLst/>
          </a:prstGeom>
          <a:solidFill>
            <a:srgbClr val="D3AE43"/>
          </a:solidFill>
          <a:ln w="12700">
            <a:solidFill>
              <a:srgbClr val="D3AE43"/>
            </a:solidFill>
            <a:prstDash val="solid"/>
          </a:ln>
        </p:spPr>
      </p:sp>
      <p:pic>
        <p:nvPicPr>
          <p:cNvPr id="4" name="Image 0" descr="/mnt/data/nge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01168"/>
            <a:ext cx="9601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3232" y="19659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PERFORMANCE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749808" y="288036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AF1FA"/>
                </a:solidFill>
              </a:rPr>
              <a:t>Analyse des écarts &amp; remontées terrain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349300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AF1FA"/>
                </a:solidFill>
              </a:rPr>
              <a:t>FNC · FAE · BP · remontées d’informations · actions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84048" y="651052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C2-LIMITÉ : Propriété de NGE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11292840" y="64556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27648"/>
            <a:ext cx="12191695" cy="82296"/>
          </a:xfrm>
          <a:prstGeom prst="rect">
            <a:avLst/>
          </a:prstGeom>
          <a:solidFill>
            <a:srgbClr val="D3AE43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9944"/>
            <a:ext cx="12191695" cy="448056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pic>
        <p:nvPicPr>
          <p:cNvPr id="5" name="Image 0" descr="/mnt/data/nge_logo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01168"/>
            <a:ext cx="960120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7772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SYNTHÈSE DE LECTURE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512064" y="126187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E6A7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Trimestre passé · trimestre en cours · évolution année N / N-1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9162288" y="228600"/>
            <a:ext cx="254203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262872" y="338328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7"/>
                </a:solidFill>
              </a:rPr>
              <a:t>Contribution RST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640080" y="1874520"/>
            <a:ext cx="340156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7780">
            <a:solidFill>
              <a:srgbClr val="002C7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" y="1874520"/>
            <a:ext cx="3401568" cy="164592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672" y="221284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2C77"/>
                </a:solidFill>
              </a:rPr>
              <a:t>TRIMESTRE PASSÉ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04672" y="2606040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2630"/>
                </a:solidFill>
              </a:rPr>
              <a:t>Bilan consolidé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804672" y="32004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6A78"/>
                </a:solidFill>
              </a:rPr>
              <a:t>données complètes, familles dominantes, actions clôturées / ouvertes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462272" y="1874520"/>
            <a:ext cx="340156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7780">
            <a:solidFill>
              <a:srgbClr val="D3AE4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462272" y="1874520"/>
            <a:ext cx="3401568" cy="164592"/>
          </a:xfrm>
          <a:prstGeom prst="rect">
            <a:avLst/>
          </a:prstGeom>
          <a:solidFill>
            <a:srgbClr val="D3AE43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26864" y="221284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3AE43"/>
                </a:solidFill>
              </a:rPr>
              <a:t>TRIMESTRE EN COURS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626864" y="2606040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2630"/>
                </a:solidFill>
              </a:rPr>
              <a:t>Suivi à date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4626864" y="32004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6A78"/>
                </a:solidFill>
              </a:rPr>
              <a:t>événements ouverts, actions en cours, points de vigilance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284464" y="1874520"/>
            <a:ext cx="340156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7780">
            <a:solidFill>
              <a:srgbClr val="3B6D1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284464" y="1874520"/>
            <a:ext cx="3401568" cy="164592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449056" y="221284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3B6D11"/>
                </a:solidFill>
              </a:rPr>
              <a:t>ÉVOLUTION N / N-1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8449056" y="2606040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2630"/>
                </a:solidFill>
              </a:rPr>
              <a:t>Même période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8449056" y="32004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6A78"/>
                </a:solidFill>
              </a:rPr>
              <a:t>tendance volume, traitement, BP / REX et actions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85800" y="472744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2C77"/>
                </a:solidFill>
              </a:rPr>
              <a:t>Lecture CODIR : faits, indicateurs, actions, échéances et points de vigilance.</a:t>
            </a:r>
            <a:endParaRPr lang="en-US" sz="1900" dirty="0"/>
          </a:p>
        </p:txBody>
      </p:sp>
      <p:sp>
        <p:nvSpPr>
          <p:cNvPr id="26" name="Text 23"/>
          <p:cNvSpPr/>
          <p:nvPr/>
        </p:nvSpPr>
        <p:spPr>
          <a:xfrm>
            <a:off x="384048" y="651052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C2-LIMITÉ : Propriété de NGE</a:t>
            </a:r>
            <a:endParaRPr lang="en-US" sz="650" dirty="0"/>
          </a:p>
        </p:txBody>
      </p:sp>
      <p:sp>
        <p:nvSpPr>
          <p:cNvPr id="27" name="Text 24"/>
          <p:cNvSpPr/>
          <p:nvPr/>
        </p:nvSpPr>
        <p:spPr>
          <a:xfrm>
            <a:off x="11292840" y="64556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27648"/>
            <a:ext cx="12191695" cy="82296"/>
          </a:xfrm>
          <a:prstGeom prst="rect">
            <a:avLst/>
          </a:prstGeom>
          <a:solidFill>
            <a:srgbClr val="D3AE43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9944"/>
            <a:ext cx="12191695" cy="448056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pic>
        <p:nvPicPr>
          <p:cNvPr id="5" name="Image 0" descr="/mnt/data/nge_logo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01168"/>
            <a:ext cx="960120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7772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TRIMESTRE PASSÉ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512064" y="126187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E6A7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Bilan consolidé · données fermées du trimestre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9162288" y="228600"/>
            <a:ext cx="254203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262872" y="338328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7"/>
                </a:solidFill>
              </a:rPr>
              <a:t>Contribution RST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685800" y="1783080"/>
            <a:ext cx="2011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85800" y="1783080"/>
            <a:ext cx="91440" cy="1078992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86968" y="189280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A32D2D"/>
                </a:solidFill>
              </a:rPr>
              <a:t>66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886968" y="228600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1F2630"/>
                </a:solidFill>
              </a:rPr>
              <a:t>FNC hors éléments suivis à part</a:t>
            </a:r>
            <a:endParaRPr lang="en-US" sz="930" dirty="0"/>
          </a:p>
        </p:txBody>
      </p:sp>
      <p:sp>
        <p:nvSpPr>
          <p:cNvPr id="14" name="Shape 11"/>
          <p:cNvSpPr/>
          <p:nvPr/>
        </p:nvSpPr>
        <p:spPr>
          <a:xfrm>
            <a:off x="2834640" y="1783080"/>
            <a:ext cx="2011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834640" y="1783080"/>
            <a:ext cx="91440" cy="1078992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035808" y="189280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3B6D11"/>
                </a:solidFill>
              </a:rPr>
              <a:t>9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3035808" y="228600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1F2630"/>
                </a:solidFill>
              </a:rPr>
              <a:t>FAE / environnement</a:t>
            </a:r>
            <a:endParaRPr lang="en-US" sz="930" dirty="0"/>
          </a:p>
        </p:txBody>
      </p:sp>
      <p:sp>
        <p:nvSpPr>
          <p:cNvPr id="18" name="Shape 15"/>
          <p:cNvSpPr/>
          <p:nvPr/>
        </p:nvSpPr>
        <p:spPr>
          <a:xfrm>
            <a:off x="4983480" y="1783080"/>
            <a:ext cx="2011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983480" y="1783080"/>
            <a:ext cx="91440" cy="1078992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184648" y="189280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02C77"/>
                </a:solidFill>
              </a:rPr>
              <a:t>30</a:t>
            </a:r>
            <a:endParaRPr lang="en-US" sz="2300" dirty="0"/>
          </a:p>
        </p:txBody>
      </p:sp>
      <p:sp>
        <p:nvSpPr>
          <p:cNvPr id="21" name="Text 18"/>
          <p:cNvSpPr/>
          <p:nvPr/>
        </p:nvSpPr>
        <p:spPr>
          <a:xfrm>
            <a:off x="5184648" y="228600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1F2630"/>
                </a:solidFill>
              </a:rPr>
              <a:t>Bonnes pratiques</a:t>
            </a:r>
            <a:endParaRPr lang="en-US" sz="930" dirty="0"/>
          </a:p>
        </p:txBody>
      </p:sp>
      <p:sp>
        <p:nvSpPr>
          <p:cNvPr id="22" name="Shape 19"/>
          <p:cNvSpPr/>
          <p:nvPr/>
        </p:nvSpPr>
        <p:spPr>
          <a:xfrm>
            <a:off x="7132320" y="1783080"/>
            <a:ext cx="2011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132320" y="1783080"/>
            <a:ext cx="91440" cy="1078992"/>
          </a:xfrm>
          <a:prstGeom prst="rect">
            <a:avLst/>
          </a:prstGeom>
          <a:solidFill>
            <a:srgbClr val="D3AE43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33488" y="189280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D3AE43"/>
                </a:solidFill>
              </a:rPr>
              <a:t>330</a:t>
            </a:r>
            <a:endParaRPr lang="en-US" sz="2300" dirty="0"/>
          </a:p>
        </p:txBody>
      </p:sp>
      <p:sp>
        <p:nvSpPr>
          <p:cNvPr id="25" name="Text 22"/>
          <p:cNvSpPr/>
          <p:nvPr/>
        </p:nvSpPr>
        <p:spPr>
          <a:xfrm>
            <a:off x="7333488" y="228600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1F2630"/>
                </a:solidFill>
              </a:rPr>
              <a:t>Remontées d’infos</a:t>
            </a:r>
            <a:endParaRPr lang="en-US" sz="930" dirty="0"/>
          </a:p>
        </p:txBody>
      </p:sp>
      <p:sp>
        <p:nvSpPr>
          <p:cNvPr id="26" name="Shape 23"/>
          <p:cNvSpPr/>
          <p:nvPr/>
        </p:nvSpPr>
        <p:spPr>
          <a:xfrm>
            <a:off x="9281160" y="1783080"/>
            <a:ext cx="2011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281160" y="1783080"/>
            <a:ext cx="91440" cy="1078992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482328" y="189280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854F0B"/>
                </a:solidFill>
              </a:rPr>
              <a:t>101 k€</a:t>
            </a:r>
            <a:endParaRPr lang="en-US" sz="2300" dirty="0"/>
          </a:p>
        </p:txBody>
      </p:sp>
      <p:sp>
        <p:nvSpPr>
          <p:cNvPr id="29" name="Text 26"/>
          <p:cNvSpPr/>
          <p:nvPr/>
        </p:nvSpPr>
        <p:spPr>
          <a:xfrm>
            <a:off x="9482328" y="228600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1F2630"/>
                </a:solidFill>
              </a:rPr>
              <a:t>Coût renseigné</a:t>
            </a:r>
            <a:endParaRPr lang="en-US" sz="930" dirty="0"/>
          </a:p>
        </p:txBody>
      </p:sp>
      <p:sp>
        <p:nvSpPr>
          <p:cNvPr id="30" name="Text 27"/>
          <p:cNvSpPr/>
          <p:nvPr/>
        </p:nvSpPr>
        <p:spPr>
          <a:xfrm>
            <a:off x="914400" y="340156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2630"/>
                </a:solidFill>
              </a:rPr>
              <a:t>FNC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3429000" y="3438144"/>
            <a:ext cx="7223760" cy="128016"/>
          </a:xfrm>
          <a:prstGeom prst="rect">
            <a:avLst/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29000" y="3438144"/>
            <a:ext cx="1444752" cy="128016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0762488" y="3374136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32D2D"/>
                </a:solidFill>
              </a:rPr>
              <a:t>66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914400" y="381304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2630"/>
                </a:solidFill>
              </a:rPr>
              <a:t>FAE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3429000" y="3849624"/>
            <a:ext cx="7223760" cy="128016"/>
          </a:xfrm>
          <a:prstGeom prst="rect">
            <a:avLst/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429000" y="3849624"/>
            <a:ext cx="197012" cy="128016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0762488" y="3785616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6D11"/>
                </a:solidFill>
              </a:rPr>
              <a:t>9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914400" y="422452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2630"/>
                </a:solidFill>
              </a:rPr>
              <a:t>BP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3429000" y="4261104"/>
            <a:ext cx="7223760" cy="128016"/>
          </a:xfrm>
          <a:prstGeom prst="rect">
            <a:avLst/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3429000" y="4261104"/>
            <a:ext cx="656705" cy="128016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0762488" y="4197096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C77"/>
                </a:solidFill>
              </a:rPr>
              <a:t>30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914400" y="463600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2630"/>
                </a:solidFill>
              </a:rPr>
              <a:t>Infos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3429000" y="4672584"/>
            <a:ext cx="7223760" cy="128016"/>
          </a:xfrm>
          <a:prstGeom prst="rect">
            <a:avLst/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3429000" y="4672584"/>
            <a:ext cx="7223760" cy="128016"/>
          </a:xfrm>
          <a:prstGeom prst="rect">
            <a:avLst/>
          </a:prstGeom>
          <a:solidFill>
            <a:srgbClr val="D3AE43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0762488" y="4608576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3AE43"/>
                </a:solidFill>
              </a:rPr>
              <a:t>330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731520" y="534924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F2630"/>
                </a:solidFill>
              </a:rPr>
              <a:t>Lecture : bilan consolidé du trimestre passé, hors remontées tardives suivies à part.</a:t>
            </a:r>
            <a:endParaRPr lang="en-US" sz="1450" dirty="0"/>
          </a:p>
        </p:txBody>
      </p:sp>
      <p:sp>
        <p:nvSpPr>
          <p:cNvPr id="47" name="Text 44"/>
          <p:cNvSpPr/>
          <p:nvPr/>
        </p:nvSpPr>
        <p:spPr>
          <a:xfrm>
            <a:off x="384048" y="651052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C2-LIMITÉ : Propriété de NGE</a:t>
            </a:r>
            <a:endParaRPr lang="en-US" sz="650" dirty="0"/>
          </a:p>
        </p:txBody>
      </p:sp>
      <p:sp>
        <p:nvSpPr>
          <p:cNvPr id="48" name="Text 45"/>
          <p:cNvSpPr/>
          <p:nvPr/>
        </p:nvSpPr>
        <p:spPr>
          <a:xfrm>
            <a:off x="11292840" y="64556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27648"/>
            <a:ext cx="12191695" cy="82296"/>
          </a:xfrm>
          <a:prstGeom prst="rect">
            <a:avLst/>
          </a:prstGeom>
          <a:solidFill>
            <a:srgbClr val="D3AE43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9944"/>
            <a:ext cx="12191695" cy="448056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pic>
        <p:nvPicPr>
          <p:cNvPr id="5" name="Image 0" descr="/mnt/data/nge_logo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01168"/>
            <a:ext cx="960120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7772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TRIMESTRE EN COURS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512064" y="126187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E6A7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Suivi à date · événements ouverts et échéances à suivre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9162288" y="228600"/>
            <a:ext cx="254203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262872" y="338328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7"/>
                </a:solidFill>
              </a:rPr>
              <a:t>Contribution RST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685800" y="1783080"/>
            <a:ext cx="2011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85800" y="1783080"/>
            <a:ext cx="91440" cy="1078992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86968" y="189280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A32D2D"/>
                </a:solidFill>
              </a:rPr>
              <a:t>11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886968" y="228600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1F2630"/>
                </a:solidFill>
              </a:rPr>
              <a:t>FNC à date</a:t>
            </a:r>
            <a:endParaRPr lang="en-US" sz="930" dirty="0"/>
          </a:p>
        </p:txBody>
      </p:sp>
      <p:sp>
        <p:nvSpPr>
          <p:cNvPr id="14" name="Shape 11"/>
          <p:cNvSpPr/>
          <p:nvPr/>
        </p:nvSpPr>
        <p:spPr>
          <a:xfrm>
            <a:off x="2834640" y="1783080"/>
            <a:ext cx="2011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834640" y="1783080"/>
            <a:ext cx="91440" cy="1078992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035808" y="189280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3B6D11"/>
                </a:solidFill>
              </a:rPr>
              <a:t>6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3035808" y="228600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1F2630"/>
                </a:solidFill>
              </a:rPr>
              <a:t>FAE à date</a:t>
            </a:r>
            <a:endParaRPr lang="en-US" sz="930" dirty="0"/>
          </a:p>
        </p:txBody>
      </p:sp>
      <p:sp>
        <p:nvSpPr>
          <p:cNvPr id="18" name="Shape 15"/>
          <p:cNvSpPr/>
          <p:nvPr/>
        </p:nvSpPr>
        <p:spPr>
          <a:xfrm>
            <a:off x="4983480" y="1783080"/>
            <a:ext cx="2011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983480" y="1783080"/>
            <a:ext cx="91440" cy="1078992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184648" y="189280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02C77"/>
                </a:solidFill>
              </a:rPr>
              <a:t>13</a:t>
            </a:r>
            <a:endParaRPr lang="en-US" sz="2300" dirty="0"/>
          </a:p>
        </p:txBody>
      </p:sp>
      <p:sp>
        <p:nvSpPr>
          <p:cNvPr id="21" name="Text 18"/>
          <p:cNvSpPr/>
          <p:nvPr/>
        </p:nvSpPr>
        <p:spPr>
          <a:xfrm>
            <a:off x="5184648" y="228600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1F2630"/>
                </a:solidFill>
              </a:rPr>
              <a:t>BP à date</a:t>
            </a:r>
            <a:endParaRPr lang="en-US" sz="930" dirty="0"/>
          </a:p>
        </p:txBody>
      </p:sp>
      <p:sp>
        <p:nvSpPr>
          <p:cNvPr id="22" name="Shape 19"/>
          <p:cNvSpPr/>
          <p:nvPr/>
        </p:nvSpPr>
        <p:spPr>
          <a:xfrm>
            <a:off x="7132320" y="1783080"/>
            <a:ext cx="2011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132320" y="1783080"/>
            <a:ext cx="91440" cy="1078992"/>
          </a:xfrm>
          <a:prstGeom prst="rect">
            <a:avLst/>
          </a:prstGeom>
          <a:solidFill>
            <a:srgbClr val="D3AE43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33488" y="189280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D3AE43"/>
                </a:solidFill>
              </a:rPr>
              <a:t>99</a:t>
            </a:r>
            <a:endParaRPr lang="en-US" sz="2300" dirty="0"/>
          </a:p>
        </p:txBody>
      </p:sp>
      <p:sp>
        <p:nvSpPr>
          <p:cNvPr id="25" name="Text 22"/>
          <p:cNvSpPr/>
          <p:nvPr/>
        </p:nvSpPr>
        <p:spPr>
          <a:xfrm>
            <a:off x="7333488" y="228600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1F2630"/>
                </a:solidFill>
              </a:rPr>
              <a:t>Infos à date</a:t>
            </a:r>
            <a:endParaRPr lang="en-US" sz="930" dirty="0"/>
          </a:p>
        </p:txBody>
      </p:sp>
      <p:sp>
        <p:nvSpPr>
          <p:cNvPr id="26" name="Shape 23"/>
          <p:cNvSpPr/>
          <p:nvPr/>
        </p:nvSpPr>
        <p:spPr>
          <a:xfrm>
            <a:off x="9281160" y="1783080"/>
            <a:ext cx="2011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281160" y="1783080"/>
            <a:ext cx="91440" cy="1078992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482328" y="189280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854F0B"/>
                </a:solidFill>
              </a:rPr>
              <a:t>9</a:t>
            </a:r>
            <a:endParaRPr lang="en-US" sz="2300" dirty="0"/>
          </a:p>
        </p:txBody>
      </p:sp>
      <p:sp>
        <p:nvSpPr>
          <p:cNvPr id="29" name="Text 26"/>
          <p:cNvSpPr/>
          <p:nvPr/>
        </p:nvSpPr>
        <p:spPr>
          <a:xfrm>
            <a:off x="9482328" y="228600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1F2630"/>
                </a:solidFill>
              </a:rPr>
              <a:t>Actions ouvertes</a:t>
            </a:r>
            <a:endParaRPr lang="en-US" sz="930" dirty="0"/>
          </a:p>
        </p:txBody>
      </p:sp>
      <p:sp>
        <p:nvSpPr>
          <p:cNvPr id="30" name="Shape 27"/>
          <p:cNvSpPr/>
          <p:nvPr/>
        </p:nvSpPr>
        <p:spPr>
          <a:xfrm>
            <a:off x="868680" y="3730752"/>
            <a:ext cx="10241280" cy="73152"/>
          </a:xfrm>
          <a:prstGeom prst="rect">
            <a:avLst/>
          </a:prstGeom>
          <a:solidFill>
            <a:srgbClr val="D9E1EA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49808" y="3630168"/>
            <a:ext cx="274320" cy="274320"/>
          </a:xfrm>
          <a:prstGeom prst="ellipse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57200" y="395935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630"/>
                </a:solidFill>
              </a:rPr>
              <a:t>Mois 1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5870448" y="3630168"/>
            <a:ext cx="274320" cy="274320"/>
          </a:xfrm>
          <a:prstGeom prst="ellipse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577840" y="395935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630"/>
                </a:solidFill>
              </a:rPr>
              <a:t>Mois 2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10991088" y="3630168"/>
            <a:ext cx="274320" cy="274320"/>
          </a:xfrm>
          <a:prstGeom prst="ellipse">
            <a:avLst/>
          </a:prstGeom>
          <a:solidFill>
            <a:srgbClr val="D3AE43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0698480" y="395935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630"/>
                </a:solidFill>
              </a:rPr>
              <a:t>Mois 3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777240" y="49834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2C77"/>
                </a:solidFill>
              </a:rPr>
              <a:t>Le trimestre en cours reste une lecture à date : les tendances se stabilisent à la clôture du trimestre.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384048" y="651052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C2-LIMITÉ : Propriété de NGE</a:t>
            </a:r>
            <a:endParaRPr lang="en-US" sz="650" dirty="0"/>
          </a:p>
        </p:txBody>
      </p:sp>
      <p:sp>
        <p:nvSpPr>
          <p:cNvPr id="39" name="Text 36"/>
          <p:cNvSpPr/>
          <p:nvPr/>
        </p:nvSpPr>
        <p:spPr>
          <a:xfrm>
            <a:off x="11292840" y="64556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27648"/>
            <a:ext cx="12191695" cy="82296"/>
          </a:xfrm>
          <a:prstGeom prst="rect">
            <a:avLst/>
          </a:prstGeom>
          <a:solidFill>
            <a:srgbClr val="D3AE43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9944"/>
            <a:ext cx="12191695" cy="448056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pic>
        <p:nvPicPr>
          <p:cNvPr id="5" name="Image 0" descr="/mnt/data/nge_logo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01168"/>
            <a:ext cx="960120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7772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ÉVOLUTION N / N-1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512064" y="126187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E6A7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Comparaison avec la même période · lecture de tendance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9162288" y="228600"/>
            <a:ext cx="254203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262872" y="338328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7"/>
                </a:solidFill>
              </a:rPr>
              <a:t>Contribution RST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04672" y="186537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2630"/>
                </a:solidFill>
              </a:rPr>
              <a:t>FNC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743200" y="180136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5E6A78"/>
                </a:solidFill>
              </a:rPr>
              <a:t>N-1</a:t>
            </a:r>
            <a:endParaRPr lang="en-US" sz="780" dirty="0"/>
          </a:p>
        </p:txBody>
      </p:sp>
      <p:sp>
        <p:nvSpPr>
          <p:cNvPr id="12" name="Shape 9"/>
          <p:cNvSpPr/>
          <p:nvPr/>
        </p:nvSpPr>
        <p:spPr>
          <a:xfrm>
            <a:off x="3154680" y="1865376"/>
            <a:ext cx="3657600" cy="146304"/>
          </a:xfrm>
          <a:prstGeom prst="rect">
            <a:avLst/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154680" y="1865376"/>
            <a:ext cx="598516" cy="146304"/>
          </a:xfrm>
          <a:prstGeom prst="rect">
            <a:avLst/>
          </a:prstGeom>
          <a:solidFill>
            <a:srgbClr val="D9E1EA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086600" y="1801368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02C77"/>
                </a:solidFill>
              </a:rPr>
              <a:t>N</a:t>
            </a:r>
            <a:endParaRPr lang="en-US" sz="780" dirty="0"/>
          </a:p>
        </p:txBody>
      </p:sp>
      <p:sp>
        <p:nvSpPr>
          <p:cNvPr id="15" name="Shape 12"/>
          <p:cNvSpPr/>
          <p:nvPr/>
        </p:nvSpPr>
        <p:spPr>
          <a:xfrm>
            <a:off x="7406640" y="1865376"/>
            <a:ext cx="3657600" cy="146304"/>
          </a:xfrm>
          <a:prstGeom prst="rect">
            <a:avLst/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406640" y="1865376"/>
            <a:ext cx="731520" cy="146304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39712" y="1828800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E6A78"/>
                </a:solidFill>
              </a:rPr>
              <a:t>54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119104" y="1828800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2C77"/>
                </a:solidFill>
              </a:rPr>
              <a:t>66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04672" y="24597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2630"/>
                </a:solidFill>
              </a:rPr>
              <a:t>FAE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2743200" y="239572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5E6A78"/>
                </a:solidFill>
              </a:rPr>
              <a:t>N-1</a:t>
            </a:r>
            <a:endParaRPr lang="en-US" sz="780" dirty="0"/>
          </a:p>
        </p:txBody>
      </p:sp>
      <p:sp>
        <p:nvSpPr>
          <p:cNvPr id="21" name="Shape 18"/>
          <p:cNvSpPr/>
          <p:nvPr/>
        </p:nvSpPr>
        <p:spPr>
          <a:xfrm>
            <a:off x="3154680" y="2459736"/>
            <a:ext cx="3657600" cy="146304"/>
          </a:xfrm>
          <a:prstGeom prst="rect">
            <a:avLst/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154680" y="2459736"/>
            <a:ext cx="91440" cy="146304"/>
          </a:xfrm>
          <a:prstGeom prst="rect">
            <a:avLst/>
          </a:prstGeom>
          <a:solidFill>
            <a:srgbClr val="D9E1EA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086600" y="2395728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02C77"/>
                </a:solidFill>
              </a:rPr>
              <a:t>N</a:t>
            </a:r>
            <a:endParaRPr lang="en-US" sz="780" dirty="0"/>
          </a:p>
        </p:txBody>
      </p:sp>
      <p:sp>
        <p:nvSpPr>
          <p:cNvPr id="24" name="Shape 21"/>
          <p:cNvSpPr/>
          <p:nvPr/>
        </p:nvSpPr>
        <p:spPr>
          <a:xfrm>
            <a:off x="7406640" y="2459736"/>
            <a:ext cx="3657600" cy="146304"/>
          </a:xfrm>
          <a:prstGeom prst="rect">
            <a:avLst/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406640" y="2459736"/>
            <a:ext cx="99753" cy="146304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839712" y="2423160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E6A78"/>
                </a:solidFill>
              </a:rPr>
              <a:t>7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119104" y="2423160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2C77"/>
                </a:solidFill>
              </a:rPr>
              <a:t>9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804672" y="30540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2630"/>
                </a:solidFill>
              </a:rPr>
              <a:t>BP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2743200" y="299008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5E6A78"/>
                </a:solidFill>
              </a:rPr>
              <a:t>N-1</a:t>
            </a:r>
            <a:endParaRPr lang="en-US" sz="780" dirty="0"/>
          </a:p>
        </p:txBody>
      </p:sp>
      <p:sp>
        <p:nvSpPr>
          <p:cNvPr id="30" name="Shape 27"/>
          <p:cNvSpPr/>
          <p:nvPr/>
        </p:nvSpPr>
        <p:spPr>
          <a:xfrm>
            <a:off x="3154680" y="3054096"/>
            <a:ext cx="3657600" cy="146304"/>
          </a:xfrm>
          <a:prstGeom prst="rect">
            <a:avLst/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154680" y="3054096"/>
            <a:ext cx="199505" cy="146304"/>
          </a:xfrm>
          <a:prstGeom prst="rect">
            <a:avLst/>
          </a:prstGeom>
          <a:solidFill>
            <a:srgbClr val="D9E1EA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086600" y="2990088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02C77"/>
                </a:solidFill>
              </a:rPr>
              <a:t>N</a:t>
            </a:r>
            <a:endParaRPr lang="en-US" sz="780" dirty="0"/>
          </a:p>
        </p:txBody>
      </p:sp>
      <p:sp>
        <p:nvSpPr>
          <p:cNvPr id="33" name="Shape 30"/>
          <p:cNvSpPr/>
          <p:nvPr/>
        </p:nvSpPr>
        <p:spPr>
          <a:xfrm>
            <a:off x="7406640" y="3054096"/>
            <a:ext cx="3657600" cy="146304"/>
          </a:xfrm>
          <a:prstGeom prst="rect">
            <a:avLst/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406640" y="3054096"/>
            <a:ext cx="332509" cy="146304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839712" y="3017520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E6A78"/>
                </a:solidFill>
              </a:rPr>
              <a:t>18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1119104" y="3017520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2C77"/>
                </a:solidFill>
              </a:rPr>
              <a:t>30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804672" y="36484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2630"/>
                </a:solidFill>
              </a:rPr>
              <a:t>Infos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2743200" y="358444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5E6A78"/>
                </a:solidFill>
              </a:rPr>
              <a:t>N-1</a:t>
            </a:r>
            <a:endParaRPr lang="en-US" sz="780" dirty="0"/>
          </a:p>
        </p:txBody>
      </p:sp>
      <p:sp>
        <p:nvSpPr>
          <p:cNvPr id="39" name="Shape 36"/>
          <p:cNvSpPr/>
          <p:nvPr/>
        </p:nvSpPr>
        <p:spPr>
          <a:xfrm>
            <a:off x="3154680" y="3648456"/>
            <a:ext cx="3657600" cy="146304"/>
          </a:xfrm>
          <a:prstGeom prst="rect">
            <a:avLst/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3154680" y="3648456"/>
            <a:ext cx="2327564" cy="146304"/>
          </a:xfrm>
          <a:prstGeom prst="rect">
            <a:avLst/>
          </a:prstGeom>
          <a:solidFill>
            <a:srgbClr val="D9E1EA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086600" y="3584448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02C77"/>
                </a:solidFill>
              </a:rPr>
              <a:t>N</a:t>
            </a:r>
            <a:endParaRPr lang="en-US" sz="780" dirty="0"/>
          </a:p>
        </p:txBody>
      </p:sp>
      <p:sp>
        <p:nvSpPr>
          <p:cNvPr id="42" name="Shape 39"/>
          <p:cNvSpPr/>
          <p:nvPr/>
        </p:nvSpPr>
        <p:spPr>
          <a:xfrm>
            <a:off x="7406640" y="3648456"/>
            <a:ext cx="3657600" cy="146304"/>
          </a:xfrm>
          <a:prstGeom prst="rect">
            <a:avLst/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406640" y="3648456"/>
            <a:ext cx="3657600" cy="146304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839712" y="3611880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E6A78"/>
                </a:solidFill>
              </a:rPr>
              <a:t>210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11119104" y="3611880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2C77"/>
                </a:solidFill>
              </a:rPr>
              <a:t>330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804672" y="424281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2630"/>
                </a:solidFill>
              </a:rPr>
              <a:t>Actions clôturées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2743200" y="417880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5E6A78"/>
                </a:solidFill>
              </a:rPr>
              <a:t>N-1</a:t>
            </a:r>
            <a:endParaRPr lang="en-US" sz="780" dirty="0"/>
          </a:p>
        </p:txBody>
      </p:sp>
      <p:sp>
        <p:nvSpPr>
          <p:cNvPr id="48" name="Shape 45"/>
          <p:cNvSpPr/>
          <p:nvPr/>
        </p:nvSpPr>
        <p:spPr>
          <a:xfrm>
            <a:off x="3154680" y="4242816"/>
            <a:ext cx="3657600" cy="146304"/>
          </a:xfrm>
          <a:prstGeom prst="rect">
            <a:avLst/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3154680" y="4242816"/>
            <a:ext cx="155171" cy="146304"/>
          </a:xfrm>
          <a:prstGeom prst="rect">
            <a:avLst/>
          </a:prstGeom>
          <a:solidFill>
            <a:srgbClr val="D9E1EA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7086600" y="4178808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02C77"/>
                </a:solidFill>
              </a:rPr>
              <a:t>N</a:t>
            </a:r>
            <a:endParaRPr lang="en-US" sz="780" dirty="0"/>
          </a:p>
        </p:txBody>
      </p:sp>
      <p:sp>
        <p:nvSpPr>
          <p:cNvPr id="51" name="Shape 48"/>
          <p:cNvSpPr/>
          <p:nvPr/>
        </p:nvSpPr>
        <p:spPr>
          <a:xfrm>
            <a:off x="7406640" y="4242816"/>
            <a:ext cx="3657600" cy="146304"/>
          </a:xfrm>
          <a:prstGeom prst="rect">
            <a:avLst/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7406640" y="4242816"/>
            <a:ext cx="199505" cy="146304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6839712" y="4206240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E6A78"/>
                </a:solidFill>
              </a:rPr>
              <a:t>14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11119104" y="4206240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2C77"/>
                </a:solidFill>
              </a:rPr>
              <a:t>18</a:t>
            </a:r>
            <a:endParaRPr lang="en-US" sz="900" dirty="0"/>
          </a:p>
        </p:txBody>
      </p:sp>
      <p:sp>
        <p:nvSpPr>
          <p:cNvPr id="55" name="Shape 52"/>
          <p:cNvSpPr/>
          <p:nvPr/>
        </p:nvSpPr>
        <p:spPr>
          <a:xfrm>
            <a:off x="822960" y="5303520"/>
            <a:ext cx="10378440" cy="502920"/>
          </a:xfrm>
          <a:prstGeom prst="roundRect">
            <a:avLst>
              <a:gd name="adj" fmla="val 10909"/>
            </a:avLst>
          </a:prstGeom>
          <a:solidFill>
            <a:srgbClr val="F7F9FC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1005840" y="5468112"/>
            <a:ext cx="10012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A78"/>
                </a:solidFill>
              </a:rPr>
              <a:t>Les remontées tardives 2025 sont suivies séparément et ne portent pas la lecture opérationnelle N / N-1.</a:t>
            </a:r>
            <a:endParaRPr lang="en-US" sz="1150" dirty="0"/>
          </a:p>
        </p:txBody>
      </p:sp>
      <p:sp>
        <p:nvSpPr>
          <p:cNvPr id="57" name="Text 54"/>
          <p:cNvSpPr/>
          <p:nvPr/>
        </p:nvSpPr>
        <p:spPr>
          <a:xfrm>
            <a:off x="384048" y="651052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C2-LIMITÉ : Propriété de NGE</a:t>
            </a:r>
            <a:endParaRPr lang="en-US" sz="650" dirty="0"/>
          </a:p>
        </p:txBody>
      </p:sp>
      <p:sp>
        <p:nvSpPr>
          <p:cNvPr id="58" name="Text 55"/>
          <p:cNvSpPr/>
          <p:nvPr/>
        </p:nvSpPr>
        <p:spPr>
          <a:xfrm>
            <a:off x="11292840" y="64556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27648"/>
            <a:ext cx="12191695" cy="82296"/>
          </a:xfrm>
          <a:prstGeom prst="rect">
            <a:avLst/>
          </a:prstGeom>
          <a:solidFill>
            <a:srgbClr val="D3AE43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9944"/>
            <a:ext cx="12191695" cy="448056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pic>
        <p:nvPicPr>
          <p:cNvPr id="5" name="Image 0" descr="/mnt/data/nge_logo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01168"/>
            <a:ext cx="960120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7772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RÉPARTITION DES ÉVÉNEMENTS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512064" y="126187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E6A7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FNC · FAE · BP · remontées d’informations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9162288" y="228600"/>
            <a:ext cx="254203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262872" y="338328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7"/>
                </a:solidFill>
              </a:rPr>
              <a:t>Contribution RST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731520" y="1828800"/>
            <a:ext cx="23317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6510">
            <a:solidFill>
              <a:srgbClr val="A32D2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212140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A32D2D"/>
                </a:solidFill>
              </a:rPr>
              <a:t>66</a:t>
            </a:r>
            <a:endParaRPr lang="en-US" sz="3100" dirty="0"/>
          </a:p>
        </p:txBody>
      </p:sp>
      <p:sp>
        <p:nvSpPr>
          <p:cNvPr id="12" name="Text 9"/>
          <p:cNvSpPr/>
          <p:nvPr/>
        </p:nvSpPr>
        <p:spPr>
          <a:xfrm>
            <a:off x="914400" y="269748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630"/>
                </a:solidFill>
              </a:rPr>
              <a:t>FNC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914400" y="309981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A78"/>
                </a:solidFill>
              </a:rPr>
              <a:t>15%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520440" y="1828800"/>
            <a:ext cx="23317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6510">
            <a:solidFill>
              <a:srgbClr val="3B6D1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703320" y="212140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3B6D11"/>
                </a:solidFill>
              </a:rPr>
              <a:t>9</a:t>
            </a:r>
            <a:endParaRPr lang="en-US" sz="3100" dirty="0"/>
          </a:p>
        </p:txBody>
      </p:sp>
      <p:sp>
        <p:nvSpPr>
          <p:cNvPr id="16" name="Text 13"/>
          <p:cNvSpPr/>
          <p:nvPr/>
        </p:nvSpPr>
        <p:spPr>
          <a:xfrm>
            <a:off x="3703320" y="269748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630"/>
                </a:solidFill>
              </a:rPr>
              <a:t>FAE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703320" y="309981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A78"/>
                </a:solidFill>
              </a:rPr>
              <a:t>2%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309360" y="1828800"/>
            <a:ext cx="23317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6510">
            <a:solidFill>
              <a:srgbClr val="002C7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92240" y="212140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002C77"/>
                </a:solidFill>
              </a:rPr>
              <a:t>30</a:t>
            </a:r>
            <a:endParaRPr lang="en-US" sz="3100" dirty="0"/>
          </a:p>
        </p:txBody>
      </p:sp>
      <p:sp>
        <p:nvSpPr>
          <p:cNvPr id="20" name="Text 17"/>
          <p:cNvSpPr/>
          <p:nvPr/>
        </p:nvSpPr>
        <p:spPr>
          <a:xfrm>
            <a:off x="6492240" y="269748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630"/>
                </a:solidFill>
              </a:rPr>
              <a:t>BP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492240" y="309981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A78"/>
                </a:solidFill>
              </a:rPr>
              <a:t>7%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098280" y="1828800"/>
            <a:ext cx="23317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6510">
            <a:solidFill>
              <a:srgbClr val="D3AE4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281160" y="212140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D3AE43"/>
                </a:solidFill>
              </a:rPr>
              <a:t>330</a:t>
            </a:r>
            <a:endParaRPr lang="en-US" sz="3100" dirty="0"/>
          </a:p>
        </p:txBody>
      </p:sp>
      <p:sp>
        <p:nvSpPr>
          <p:cNvPr id="24" name="Text 21"/>
          <p:cNvSpPr/>
          <p:nvPr/>
        </p:nvSpPr>
        <p:spPr>
          <a:xfrm>
            <a:off x="9281160" y="269748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630"/>
                </a:solidFill>
              </a:rPr>
              <a:t>Infos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9281160" y="309981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A78"/>
                </a:solidFill>
              </a:rPr>
              <a:t>76%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914400" y="4709160"/>
            <a:ext cx="6858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3970">
            <a:solidFill>
              <a:srgbClr val="A32D2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87552" y="4786884"/>
            <a:ext cx="5394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32D2D"/>
                </a:solidFill>
              </a:rPr>
              <a:t>FNC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1737360" y="4791456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630"/>
                </a:solidFill>
              </a:rPr>
              <a:t>écart / coût / cause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914400" y="5093208"/>
            <a:ext cx="6858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3970">
            <a:solidFill>
              <a:srgbClr val="3B6D1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87552" y="5170932"/>
            <a:ext cx="5394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B6D11"/>
                </a:solidFill>
              </a:rPr>
              <a:t>FAE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1737360" y="517550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630"/>
                </a:solidFill>
              </a:rPr>
              <a:t>environnement / action terrain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6172200" y="4709160"/>
            <a:ext cx="6858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3970">
            <a:solidFill>
              <a:srgbClr val="002C7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245352" y="4786884"/>
            <a:ext cx="5394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2C77"/>
                </a:solidFill>
              </a:rPr>
              <a:t>BP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6995160" y="4791456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630"/>
                </a:solidFill>
              </a:rPr>
              <a:t>bonne pratique à valoriser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6172200" y="5093208"/>
            <a:ext cx="6858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3970">
            <a:solidFill>
              <a:srgbClr val="D3AE4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245352" y="5170932"/>
            <a:ext cx="5394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3AE43"/>
                </a:solidFill>
              </a:rPr>
              <a:t>INFO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6995160" y="517550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630"/>
                </a:solidFill>
              </a:rPr>
              <a:t>signal faible / prévention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384048" y="651052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C2-LIMITÉ : Propriété de NGE</a:t>
            </a:r>
            <a:endParaRPr lang="en-US" sz="650" dirty="0"/>
          </a:p>
        </p:txBody>
      </p:sp>
      <p:sp>
        <p:nvSpPr>
          <p:cNvPr id="39" name="Text 36"/>
          <p:cNvSpPr/>
          <p:nvPr/>
        </p:nvSpPr>
        <p:spPr>
          <a:xfrm>
            <a:off x="11292840" y="64556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27648"/>
            <a:ext cx="12191695" cy="82296"/>
          </a:xfrm>
          <a:prstGeom prst="rect">
            <a:avLst/>
          </a:prstGeom>
          <a:solidFill>
            <a:srgbClr val="D3AE43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9944"/>
            <a:ext cx="12191695" cy="448056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pic>
        <p:nvPicPr>
          <p:cNvPr id="5" name="Image 0" descr="/mnt/data/nge_logo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01168"/>
            <a:ext cx="960120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7772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FOCUS FNC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512064" y="126187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E6A7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Volume, coût renseigné, traitement et points à suivre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9162288" y="228600"/>
            <a:ext cx="254203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262872" y="338328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7"/>
                </a:solidFill>
              </a:rPr>
              <a:t>Contribution RST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77240" y="18288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A32D2D"/>
                </a:solidFill>
              </a:rPr>
              <a:t>66</a:t>
            </a:r>
            <a:endParaRPr lang="en-US" sz="3100" dirty="0"/>
          </a:p>
        </p:txBody>
      </p:sp>
      <p:sp>
        <p:nvSpPr>
          <p:cNvPr id="11" name="Text 8"/>
          <p:cNvSpPr/>
          <p:nvPr/>
        </p:nvSpPr>
        <p:spPr>
          <a:xfrm>
            <a:off x="777240" y="23591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2630"/>
                </a:solidFill>
              </a:rPr>
              <a:t>FNC trimestre passé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154680" y="18288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A32D2D"/>
                </a:solidFill>
              </a:rPr>
              <a:t>11</a:t>
            </a:r>
            <a:endParaRPr lang="en-US" sz="3100" dirty="0"/>
          </a:p>
        </p:txBody>
      </p:sp>
      <p:sp>
        <p:nvSpPr>
          <p:cNvPr id="13" name="Text 10"/>
          <p:cNvSpPr/>
          <p:nvPr/>
        </p:nvSpPr>
        <p:spPr>
          <a:xfrm>
            <a:off x="3154680" y="23591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2630"/>
                </a:solidFill>
              </a:rPr>
              <a:t>FNC trimestre en cours à date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669280" y="18288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854F0B"/>
                </a:solidFill>
              </a:rPr>
              <a:t>101 k€</a:t>
            </a:r>
            <a:endParaRPr lang="en-US" sz="3100" dirty="0"/>
          </a:p>
        </p:txBody>
      </p:sp>
      <p:sp>
        <p:nvSpPr>
          <p:cNvPr id="15" name="Text 12"/>
          <p:cNvSpPr/>
          <p:nvPr/>
        </p:nvSpPr>
        <p:spPr>
          <a:xfrm>
            <a:off x="5669280" y="23591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2630"/>
                </a:solidFill>
              </a:rPr>
              <a:t>coût trimestre passé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321040" y="18288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A32D2D"/>
                </a:solidFill>
              </a:rPr>
              <a:t>4</a:t>
            </a:r>
            <a:endParaRPr lang="en-US" sz="3100" dirty="0"/>
          </a:p>
        </p:txBody>
      </p:sp>
      <p:sp>
        <p:nvSpPr>
          <p:cNvPr id="17" name="Text 14"/>
          <p:cNvSpPr/>
          <p:nvPr/>
        </p:nvSpPr>
        <p:spPr>
          <a:xfrm>
            <a:off x="8321040" y="23591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2630"/>
                </a:solidFill>
              </a:rPr>
              <a:t>actions en retard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22960" y="3657600"/>
            <a:ext cx="324612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7552" y="3794760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2630"/>
                </a:solidFill>
              </a:rPr>
              <a:t>causes renseignées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526280" y="3657600"/>
            <a:ext cx="3246120" cy="438912"/>
          </a:xfrm>
          <a:prstGeom prst="roundRect">
            <a:avLst>
              <a:gd name="adj" fmla="val 10417"/>
            </a:avLst>
          </a:prstGeom>
          <a:solidFill>
            <a:srgbClr val="F7F9FC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690872" y="3794760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2630"/>
                </a:solidFill>
              </a:rPr>
              <a:t>actions définies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8229600" y="3657600"/>
            <a:ext cx="324612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394192" y="3794760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2630"/>
                </a:solidFill>
              </a:rPr>
              <a:t>pilotes identifiés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822960" y="4315968"/>
            <a:ext cx="3246120" cy="438912"/>
          </a:xfrm>
          <a:prstGeom prst="roundRect">
            <a:avLst>
              <a:gd name="adj" fmla="val 10417"/>
            </a:avLst>
          </a:prstGeom>
          <a:solidFill>
            <a:srgbClr val="F7F9FC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87552" y="4453128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2630"/>
                </a:solidFill>
              </a:rPr>
              <a:t>échéances renseignées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526280" y="4315968"/>
            <a:ext cx="324612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690872" y="4453128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2630"/>
                </a:solidFill>
              </a:rPr>
              <a:t>clôtures avec preuve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384048" y="651052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C2-LIMITÉ : Propriété de NGE</a:t>
            </a:r>
            <a:endParaRPr lang="en-US" sz="650" dirty="0"/>
          </a:p>
        </p:txBody>
      </p:sp>
      <p:sp>
        <p:nvSpPr>
          <p:cNvPr id="29" name="Text 26"/>
          <p:cNvSpPr/>
          <p:nvPr/>
        </p:nvSpPr>
        <p:spPr>
          <a:xfrm>
            <a:off x="11292840" y="64556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27648"/>
            <a:ext cx="12191695" cy="82296"/>
          </a:xfrm>
          <a:prstGeom prst="rect">
            <a:avLst/>
          </a:prstGeom>
          <a:solidFill>
            <a:srgbClr val="D3AE43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9944"/>
            <a:ext cx="12191695" cy="448056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pic>
        <p:nvPicPr>
          <p:cNvPr id="5" name="Image 0" descr="/mnt/data/nge_logo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01168"/>
            <a:ext cx="960120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7772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FAE / ENVIRONNEMENT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512064" y="126187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E6A7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Événements, actions immédiates et suivi terrain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9162288" y="228600"/>
            <a:ext cx="254203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262872" y="338328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7"/>
                </a:solidFill>
              </a:rPr>
              <a:t>Contribution RST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731520" y="182880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" y="1828800"/>
            <a:ext cx="91440" cy="1143000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32688" y="19385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3B6D11"/>
                </a:solidFill>
              </a:rPr>
              <a:t>14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932688" y="23317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1F2630"/>
                </a:solidFill>
              </a:rPr>
              <a:t>Incidents env.</a:t>
            </a:r>
            <a:endParaRPr lang="en-US" sz="930" dirty="0"/>
          </a:p>
        </p:txBody>
      </p:sp>
      <p:sp>
        <p:nvSpPr>
          <p:cNvPr id="14" name="Shape 11"/>
          <p:cNvSpPr/>
          <p:nvPr/>
        </p:nvSpPr>
        <p:spPr>
          <a:xfrm>
            <a:off x="3566160" y="182880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566160" y="1828800"/>
            <a:ext cx="91440" cy="114300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767328" y="19385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A32D2D"/>
                </a:solidFill>
              </a:rPr>
              <a:t>15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3767328" y="23317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1F2630"/>
                </a:solidFill>
              </a:rPr>
              <a:t>Casses réseaux</a:t>
            </a:r>
            <a:endParaRPr lang="en-US" sz="930" dirty="0"/>
          </a:p>
        </p:txBody>
      </p:sp>
      <p:sp>
        <p:nvSpPr>
          <p:cNvPr id="18" name="Shape 15"/>
          <p:cNvSpPr/>
          <p:nvPr/>
        </p:nvSpPr>
        <p:spPr>
          <a:xfrm>
            <a:off x="6400800" y="182880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00800" y="1828800"/>
            <a:ext cx="91440" cy="1143000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01968" y="19385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02C77"/>
                </a:solidFill>
              </a:rPr>
              <a:t>9</a:t>
            </a:r>
            <a:endParaRPr lang="en-US" sz="2300" dirty="0"/>
          </a:p>
        </p:txBody>
      </p:sp>
      <p:sp>
        <p:nvSpPr>
          <p:cNvPr id="21" name="Text 18"/>
          <p:cNvSpPr/>
          <p:nvPr/>
        </p:nvSpPr>
        <p:spPr>
          <a:xfrm>
            <a:off x="6601968" y="23317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1F2630"/>
                </a:solidFill>
              </a:rPr>
              <a:t>1/4h env.</a:t>
            </a:r>
            <a:endParaRPr lang="en-US" sz="930" dirty="0"/>
          </a:p>
        </p:txBody>
      </p:sp>
      <p:sp>
        <p:nvSpPr>
          <p:cNvPr id="22" name="Shape 19"/>
          <p:cNvSpPr/>
          <p:nvPr/>
        </p:nvSpPr>
        <p:spPr>
          <a:xfrm>
            <a:off x="9235440" y="182880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235440" y="1828800"/>
            <a:ext cx="91440" cy="1143000"/>
          </a:xfrm>
          <a:prstGeom prst="rect">
            <a:avLst/>
          </a:prstGeom>
          <a:solidFill>
            <a:srgbClr val="D3AE43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436608" y="19385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D3AE43"/>
                </a:solidFill>
              </a:rPr>
              <a:t>1</a:t>
            </a:r>
            <a:endParaRPr lang="en-US" sz="2300" dirty="0"/>
          </a:p>
        </p:txBody>
      </p:sp>
      <p:sp>
        <p:nvSpPr>
          <p:cNvPr id="25" name="Text 22"/>
          <p:cNvSpPr/>
          <p:nvPr/>
        </p:nvSpPr>
        <p:spPr>
          <a:xfrm>
            <a:off x="9436608" y="23317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1F2630"/>
                </a:solidFill>
              </a:rPr>
              <a:t>Test urgence</a:t>
            </a:r>
            <a:endParaRPr lang="en-US" sz="930" dirty="0"/>
          </a:p>
        </p:txBody>
      </p:sp>
      <p:sp>
        <p:nvSpPr>
          <p:cNvPr id="26" name="Shape 23"/>
          <p:cNvSpPr/>
          <p:nvPr/>
        </p:nvSpPr>
        <p:spPr>
          <a:xfrm>
            <a:off x="896112" y="3794760"/>
            <a:ext cx="502920" cy="502920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42416" y="3941064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1490472" y="4041648"/>
            <a:ext cx="1463040" cy="0"/>
          </a:xfrm>
          <a:prstGeom prst="line">
            <a:avLst/>
          </a:prstGeom>
          <a:noFill/>
          <a:ln w="19050">
            <a:solidFill>
              <a:srgbClr val="D9E1EA"/>
            </a:solidFill>
            <a:prstDash val="solid"/>
            <a:headEnd type="none"/>
            <a:tailEnd type="triangle"/>
          </a:ln>
        </p:spPr>
      </p:sp>
      <p:sp>
        <p:nvSpPr>
          <p:cNvPr id="29" name="Text 26"/>
          <p:cNvSpPr/>
          <p:nvPr/>
        </p:nvSpPr>
        <p:spPr>
          <a:xfrm>
            <a:off x="667512" y="443484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630"/>
                </a:solidFill>
              </a:rPr>
              <a:t>Fait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3136392" y="3794760"/>
            <a:ext cx="502920" cy="502920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282696" y="3941064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3730752" y="4041648"/>
            <a:ext cx="1463040" cy="0"/>
          </a:xfrm>
          <a:prstGeom prst="line">
            <a:avLst/>
          </a:prstGeom>
          <a:noFill/>
          <a:ln w="19050">
            <a:solidFill>
              <a:srgbClr val="D9E1EA"/>
            </a:solidFill>
            <a:prstDash val="solid"/>
            <a:headEnd type="none"/>
            <a:tailEnd type="triangle"/>
          </a:ln>
        </p:spPr>
      </p:sp>
      <p:sp>
        <p:nvSpPr>
          <p:cNvPr id="33" name="Text 30"/>
          <p:cNvSpPr/>
          <p:nvPr/>
        </p:nvSpPr>
        <p:spPr>
          <a:xfrm>
            <a:off x="2907792" y="443484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630"/>
                </a:solidFill>
              </a:rPr>
              <a:t>Impact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5376672" y="3794760"/>
            <a:ext cx="502920" cy="502920"/>
          </a:xfrm>
          <a:prstGeom prst="ellipse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522976" y="3941064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5971032" y="4041648"/>
            <a:ext cx="1463040" cy="0"/>
          </a:xfrm>
          <a:prstGeom prst="line">
            <a:avLst/>
          </a:prstGeom>
          <a:noFill/>
          <a:ln w="19050">
            <a:solidFill>
              <a:srgbClr val="D9E1EA"/>
            </a:solidFill>
            <a:prstDash val="solid"/>
            <a:headEnd type="none"/>
            <a:tailEnd type="triangle"/>
          </a:ln>
        </p:spPr>
      </p:sp>
      <p:sp>
        <p:nvSpPr>
          <p:cNvPr id="37" name="Text 34"/>
          <p:cNvSpPr/>
          <p:nvPr/>
        </p:nvSpPr>
        <p:spPr>
          <a:xfrm>
            <a:off x="5148072" y="443484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630"/>
                </a:solidFill>
              </a:rPr>
              <a:t>Action immédiate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7616952" y="3794760"/>
            <a:ext cx="502920" cy="502920"/>
          </a:xfrm>
          <a:prstGeom prst="ellipse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763256" y="3941064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8211312" y="4041648"/>
            <a:ext cx="1463040" cy="0"/>
          </a:xfrm>
          <a:prstGeom prst="line">
            <a:avLst/>
          </a:prstGeom>
          <a:noFill/>
          <a:ln w="19050">
            <a:solidFill>
              <a:srgbClr val="D9E1EA"/>
            </a:solidFill>
            <a:prstDash val="solid"/>
            <a:headEnd type="none"/>
            <a:tailEnd type="triangle"/>
          </a:ln>
        </p:spPr>
      </p:sp>
      <p:sp>
        <p:nvSpPr>
          <p:cNvPr id="41" name="Text 38"/>
          <p:cNvSpPr/>
          <p:nvPr/>
        </p:nvSpPr>
        <p:spPr>
          <a:xfrm>
            <a:off x="7388352" y="443484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630"/>
                </a:solidFill>
              </a:rPr>
              <a:t>Action préventive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9857232" y="3794760"/>
            <a:ext cx="502920" cy="502920"/>
          </a:xfrm>
          <a:prstGeom prst="ellipse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0003536" y="3941064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9628632" y="443484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630"/>
                </a:solidFill>
              </a:rPr>
              <a:t>Preuve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777240" y="5349240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2C77"/>
                </a:solidFill>
              </a:rPr>
              <a:t>Lecture : distinguer les événements environnement des FNC qualité, tout en suivant actions et preuves.</a:t>
            </a:r>
            <a:endParaRPr lang="en-US" sz="1300" dirty="0"/>
          </a:p>
        </p:txBody>
      </p:sp>
      <p:sp>
        <p:nvSpPr>
          <p:cNvPr id="46" name="Text 43"/>
          <p:cNvSpPr/>
          <p:nvPr/>
        </p:nvSpPr>
        <p:spPr>
          <a:xfrm>
            <a:off x="384048" y="651052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C2-LIMITÉ : Propriété de NGE</a:t>
            </a:r>
            <a:endParaRPr lang="en-US" sz="650" dirty="0"/>
          </a:p>
        </p:txBody>
      </p:sp>
      <p:sp>
        <p:nvSpPr>
          <p:cNvPr id="47" name="Text 44"/>
          <p:cNvSpPr/>
          <p:nvPr/>
        </p:nvSpPr>
        <p:spPr>
          <a:xfrm>
            <a:off x="11292840" y="64556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27648"/>
            <a:ext cx="12191695" cy="82296"/>
          </a:xfrm>
          <a:prstGeom prst="rect">
            <a:avLst/>
          </a:prstGeom>
          <a:solidFill>
            <a:srgbClr val="D3AE43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9944"/>
            <a:ext cx="12191695" cy="448056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pic>
        <p:nvPicPr>
          <p:cNvPr id="5" name="Image 0" descr="/mnt/data/nge_logo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01168"/>
            <a:ext cx="960120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7772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BONNES PRATIQUES &amp; REX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512064" y="126187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E6A7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Capitaliser ce qui fonctionne et le rendre diffusable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9162288" y="228600"/>
            <a:ext cx="254203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262872" y="338328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7"/>
                </a:solidFill>
              </a:rPr>
              <a:t>Contribution RST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731520" y="182880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" y="1828800"/>
            <a:ext cx="91440" cy="1143000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32688" y="19385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02C77"/>
                </a:solidFill>
              </a:rPr>
              <a:t>31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932688" y="23317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1F2630"/>
                </a:solidFill>
              </a:rPr>
              <a:t>BP identifiées</a:t>
            </a:r>
            <a:endParaRPr lang="en-US" sz="930" dirty="0"/>
          </a:p>
        </p:txBody>
      </p:sp>
      <p:sp>
        <p:nvSpPr>
          <p:cNvPr id="14" name="Shape 11"/>
          <p:cNvSpPr/>
          <p:nvPr/>
        </p:nvSpPr>
        <p:spPr>
          <a:xfrm>
            <a:off x="3429000" y="182880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429000" y="1828800"/>
            <a:ext cx="91440" cy="1143000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30168" y="19385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02C77"/>
                </a:solidFill>
              </a:rPr>
              <a:t>17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3630168" y="23317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1F2630"/>
                </a:solidFill>
              </a:rPr>
              <a:t>RL</a:t>
            </a:r>
            <a:endParaRPr lang="en-US" sz="930" dirty="0"/>
          </a:p>
        </p:txBody>
      </p:sp>
      <p:sp>
        <p:nvSpPr>
          <p:cNvPr id="18" name="Text 15"/>
          <p:cNvSpPr/>
          <p:nvPr/>
        </p:nvSpPr>
        <p:spPr>
          <a:xfrm>
            <a:off x="3630168" y="26791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5E6A78"/>
                </a:solidFill>
              </a:rPr>
              <a:t>principal contributeur</a:t>
            </a:r>
            <a:endParaRPr lang="en-US" sz="730" dirty="0"/>
          </a:p>
        </p:txBody>
      </p:sp>
      <p:sp>
        <p:nvSpPr>
          <p:cNvPr id="19" name="Shape 16"/>
          <p:cNvSpPr/>
          <p:nvPr/>
        </p:nvSpPr>
        <p:spPr>
          <a:xfrm>
            <a:off x="6126480" y="182880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126480" y="1828800"/>
            <a:ext cx="91440" cy="1143000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327648" y="19385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02C77"/>
                </a:solidFill>
              </a:rPr>
              <a:t>6</a:t>
            </a:r>
            <a:endParaRPr lang="en-US" sz="2300" dirty="0"/>
          </a:p>
        </p:txBody>
      </p:sp>
      <p:sp>
        <p:nvSpPr>
          <p:cNvPr id="22" name="Text 19"/>
          <p:cNvSpPr/>
          <p:nvPr/>
        </p:nvSpPr>
        <p:spPr>
          <a:xfrm>
            <a:off x="6327648" y="23317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1F2630"/>
                </a:solidFill>
              </a:rPr>
              <a:t>AUV</a:t>
            </a:r>
            <a:endParaRPr lang="en-US" sz="930" dirty="0"/>
          </a:p>
        </p:txBody>
      </p:sp>
      <p:sp>
        <p:nvSpPr>
          <p:cNvPr id="23" name="Text 20"/>
          <p:cNvSpPr/>
          <p:nvPr/>
        </p:nvSpPr>
        <p:spPr>
          <a:xfrm>
            <a:off x="6327648" y="26791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5E6A78"/>
                </a:solidFill>
              </a:rPr>
              <a:t>à valoriser</a:t>
            </a:r>
            <a:endParaRPr lang="en-US" sz="730" dirty="0"/>
          </a:p>
        </p:txBody>
      </p:sp>
      <p:sp>
        <p:nvSpPr>
          <p:cNvPr id="24" name="Shape 21"/>
          <p:cNvSpPr/>
          <p:nvPr/>
        </p:nvSpPr>
        <p:spPr>
          <a:xfrm>
            <a:off x="8823960" y="182880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823960" y="1828800"/>
            <a:ext cx="91440" cy="1143000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025128" y="19385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02C77"/>
                </a:solidFill>
              </a:rPr>
              <a:t>6</a:t>
            </a:r>
            <a:endParaRPr lang="en-US" sz="2300" dirty="0"/>
          </a:p>
        </p:txBody>
      </p:sp>
      <p:sp>
        <p:nvSpPr>
          <p:cNvPr id="27" name="Text 24"/>
          <p:cNvSpPr/>
          <p:nvPr/>
        </p:nvSpPr>
        <p:spPr>
          <a:xfrm>
            <a:off x="9025128" y="23317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1F2630"/>
                </a:solidFill>
              </a:rPr>
              <a:t>LHL</a:t>
            </a:r>
            <a:endParaRPr lang="en-US" sz="930" dirty="0"/>
          </a:p>
        </p:txBody>
      </p:sp>
      <p:sp>
        <p:nvSpPr>
          <p:cNvPr id="28" name="Text 25"/>
          <p:cNvSpPr/>
          <p:nvPr/>
        </p:nvSpPr>
        <p:spPr>
          <a:xfrm>
            <a:off x="9025128" y="26791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5E6A78"/>
                </a:solidFill>
              </a:rPr>
              <a:t>à valoriser</a:t>
            </a:r>
            <a:endParaRPr lang="en-US" sz="730" dirty="0"/>
          </a:p>
        </p:txBody>
      </p:sp>
      <p:sp>
        <p:nvSpPr>
          <p:cNvPr id="29" name="Shape 26"/>
          <p:cNvSpPr/>
          <p:nvPr/>
        </p:nvSpPr>
        <p:spPr>
          <a:xfrm>
            <a:off x="868680" y="3822192"/>
            <a:ext cx="1444752" cy="530352"/>
          </a:xfrm>
          <a:prstGeom prst="roundRect">
            <a:avLst>
              <a:gd name="adj" fmla="val 13793"/>
            </a:avLst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41832" y="4014216"/>
            <a:ext cx="12984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Détection</a:t>
            </a:r>
            <a:endParaRPr lang="en-US" sz="980" dirty="0"/>
          </a:p>
        </p:txBody>
      </p:sp>
      <p:sp>
        <p:nvSpPr>
          <p:cNvPr id="31" name="Shape 28"/>
          <p:cNvSpPr/>
          <p:nvPr/>
        </p:nvSpPr>
        <p:spPr>
          <a:xfrm>
            <a:off x="2377440" y="4087368"/>
            <a:ext cx="566928" cy="0"/>
          </a:xfrm>
          <a:prstGeom prst="line">
            <a:avLst/>
          </a:prstGeom>
          <a:noFill/>
          <a:ln w="19050">
            <a:solidFill>
              <a:srgbClr val="D9E1EA"/>
            </a:solidFill>
            <a:prstDash val="solid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3081528" y="3822192"/>
            <a:ext cx="1444752" cy="530352"/>
          </a:xfrm>
          <a:prstGeom prst="roundRect">
            <a:avLst>
              <a:gd name="adj" fmla="val 13793"/>
            </a:avLst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154680" y="4014216"/>
            <a:ext cx="12984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Validation</a:t>
            </a:r>
            <a:endParaRPr lang="en-US" sz="980" dirty="0"/>
          </a:p>
        </p:txBody>
      </p:sp>
      <p:sp>
        <p:nvSpPr>
          <p:cNvPr id="34" name="Shape 31"/>
          <p:cNvSpPr/>
          <p:nvPr/>
        </p:nvSpPr>
        <p:spPr>
          <a:xfrm>
            <a:off x="4590288" y="4087368"/>
            <a:ext cx="566928" cy="0"/>
          </a:xfrm>
          <a:prstGeom prst="line">
            <a:avLst/>
          </a:prstGeom>
          <a:noFill/>
          <a:ln w="19050">
            <a:solidFill>
              <a:srgbClr val="D9E1EA"/>
            </a:solidFill>
            <a:prstDash val="solid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5294376" y="3822192"/>
            <a:ext cx="1444752" cy="530352"/>
          </a:xfrm>
          <a:prstGeom prst="roundRect">
            <a:avLst>
              <a:gd name="adj" fmla="val 13793"/>
            </a:avLst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367528" y="4014216"/>
            <a:ext cx="12984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Format</a:t>
            </a:r>
            <a:endParaRPr lang="en-US" sz="980" dirty="0"/>
          </a:p>
        </p:txBody>
      </p:sp>
      <p:sp>
        <p:nvSpPr>
          <p:cNvPr id="37" name="Shape 34"/>
          <p:cNvSpPr/>
          <p:nvPr/>
        </p:nvSpPr>
        <p:spPr>
          <a:xfrm>
            <a:off x="6803136" y="4087368"/>
            <a:ext cx="566928" cy="0"/>
          </a:xfrm>
          <a:prstGeom prst="line">
            <a:avLst/>
          </a:prstGeom>
          <a:noFill/>
          <a:ln w="19050">
            <a:solidFill>
              <a:srgbClr val="D9E1EA"/>
            </a:solidFill>
            <a:prstDash val="solid"/>
            <a:tailEnd type="triangle"/>
          </a:ln>
        </p:spPr>
      </p:sp>
      <p:sp>
        <p:nvSpPr>
          <p:cNvPr id="38" name="Shape 35"/>
          <p:cNvSpPr/>
          <p:nvPr/>
        </p:nvSpPr>
        <p:spPr>
          <a:xfrm>
            <a:off x="7507224" y="3822192"/>
            <a:ext cx="1444752" cy="530352"/>
          </a:xfrm>
          <a:prstGeom prst="roundRect">
            <a:avLst>
              <a:gd name="adj" fmla="val 13793"/>
            </a:avLst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580376" y="4014216"/>
            <a:ext cx="12984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Diffusion</a:t>
            </a:r>
            <a:endParaRPr lang="en-US" sz="980" dirty="0"/>
          </a:p>
        </p:txBody>
      </p:sp>
      <p:sp>
        <p:nvSpPr>
          <p:cNvPr id="40" name="Shape 37"/>
          <p:cNvSpPr/>
          <p:nvPr/>
        </p:nvSpPr>
        <p:spPr>
          <a:xfrm>
            <a:off x="9015984" y="4087368"/>
            <a:ext cx="566928" cy="0"/>
          </a:xfrm>
          <a:prstGeom prst="line">
            <a:avLst/>
          </a:prstGeom>
          <a:noFill/>
          <a:ln w="19050">
            <a:solidFill>
              <a:srgbClr val="D9E1EA"/>
            </a:solidFill>
            <a:prstDash val="solid"/>
            <a:tailEnd type="triangle"/>
          </a:ln>
        </p:spPr>
      </p:sp>
      <p:sp>
        <p:nvSpPr>
          <p:cNvPr id="41" name="Shape 38"/>
          <p:cNvSpPr/>
          <p:nvPr/>
        </p:nvSpPr>
        <p:spPr>
          <a:xfrm>
            <a:off x="9720072" y="3822192"/>
            <a:ext cx="1444752" cy="530352"/>
          </a:xfrm>
          <a:prstGeom prst="roundRect">
            <a:avLst>
              <a:gd name="adj" fmla="val 13793"/>
            </a:avLst>
          </a:prstGeom>
          <a:solidFill>
            <a:srgbClr val="D3AE43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793224" y="4014216"/>
            <a:ext cx="12984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Standard</a:t>
            </a:r>
            <a:endParaRPr lang="en-US" sz="980" dirty="0"/>
          </a:p>
        </p:txBody>
      </p:sp>
      <p:sp>
        <p:nvSpPr>
          <p:cNvPr id="43" name="Text 40"/>
          <p:cNvSpPr/>
          <p:nvPr/>
        </p:nvSpPr>
        <p:spPr>
          <a:xfrm>
            <a:off x="777240" y="532180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630"/>
                </a:solidFill>
              </a:rPr>
              <a:t>Une bonne pratique devient utile lorsqu’elle est validée, rendue simple et diffusée.</a:t>
            </a:r>
            <a:endParaRPr lang="en-US" sz="1500" dirty="0"/>
          </a:p>
        </p:txBody>
      </p:sp>
      <p:sp>
        <p:nvSpPr>
          <p:cNvPr id="44" name="Text 41"/>
          <p:cNvSpPr/>
          <p:nvPr/>
        </p:nvSpPr>
        <p:spPr>
          <a:xfrm>
            <a:off x="384048" y="651052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C2-LIMITÉ : Propriété de NGE</a:t>
            </a:r>
            <a:endParaRPr lang="en-US" sz="650" dirty="0"/>
          </a:p>
        </p:txBody>
      </p:sp>
      <p:sp>
        <p:nvSpPr>
          <p:cNvPr id="45" name="Text 42"/>
          <p:cNvSpPr/>
          <p:nvPr/>
        </p:nvSpPr>
        <p:spPr>
          <a:xfrm>
            <a:off x="11292840" y="64556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27648"/>
            <a:ext cx="12191695" cy="82296"/>
          </a:xfrm>
          <a:prstGeom prst="rect">
            <a:avLst/>
          </a:prstGeom>
          <a:solidFill>
            <a:srgbClr val="D3AE43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9944"/>
            <a:ext cx="12191695" cy="448056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pic>
        <p:nvPicPr>
          <p:cNvPr id="5" name="Image 0" descr="/mnt/data/nge_logo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01168"/>
            <a:ext cx="960120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7772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REMONTÉES D’INFORMATIONS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512064" y="126187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E6A7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Signaux faibles et sujets à qualifier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9162288" y="228600"/>
            <a:ext cx="254203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262872" y="338328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7"/>
                </a:solidFill>
              </a:rPr>
              <a:t>Contribution RST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868680" y="1874520"/>
            <a:ext cx="315468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240">
            <a:solidFill>
              <a:srgbClr val="002C7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51560" y="2075688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2C77"/>
                </a:solidFill>
              </a:rPr>
              <a:t>Plan indice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572000" y="1874520"/>
            <a:ext cx="315468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240">
            <a:solidFill>
              <a:srgbClr val="D3AE4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54880" y="2075688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54F0B"/>
                </a:solidFill>
              </a:rPr>
              <a:t>Risque météo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275320" y="1874520"/>
            <a:ext cx="315468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240">
            <a:solidFill>
              <a:srgbClr val="002C7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458200" y="2075688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2C77"/>
                </a:solidFill>
              </a:rPr>
              <a:t>Matériel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68680" y="2788920"/>
            <a:ext cx="315468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240">
            <a:solidFill>
              <a:srgbClr val="D3AE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51560" y="2990088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54F0B"/>
                </a:solidFill>
              </a:rPr>
              <a:t>Interface MOE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572000" y="2788920"/>
            <a:ext cx="315468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240">
            <a:solidFill>
              <a:srgbClr val="002C7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54880" y="2990088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2C77"/>
                </a:solidFill>
              </a:rPr>
              <a:t>Méthode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8275320" y="2788920"/>
            <a:ext cx="315468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240">
            <a:solidFill>
              <a:srgbClr val="D3AE4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458200" y="2990088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54F0B"/>
                </a:solidFill>
              </a:rPr>
              <a:t>Traçabilité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1005840" y="4389120"/>
            <a:ext cx="10149840" cy="685800"/>
          </a:xfrm>
          <a:prstGeom prst="roundRect">
            <a:avLst>
              <a:gd name="adj" fmla="val 10667"/>
            </a:avLst>
          </a:prstGeom>
          <a:solidFill>
            <a:srgbClr val="F7F9FC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234440" y="4626864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02C77"/>
                </a:solidFill>
              </a:rPr>
              <a:t>Une remontée peut rester une information, devenir FNC, FAE, BP ou action préventive.</a:t>
            </a:r>
            <a:endParaRPr lang="en-US" sz="1550" dirty="0"/>
          </a:p>
        </p:txBody>
      </p:sp>
      <p:sp>
        <p:nvSpPr>
          <p:cNvPr id="24" name="Text 21"/>
          <p:cNvSpPr/>
          <p:nvPr/>
        </p:nvSpPr>
        <p:spPr>
          <a:xfrm>
            <a:off x="384048" y="651052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C2-LIMITÉ : Propriété de NGE</a:t>
            </a:r>
            <a:endParaRPr lang="en-US" sz="650" dirty="0"/>
          </a:p>
        </p:txBody>
      </p:sp>
      <p:sp>
        <p:nvSpPr>
          <p:cNvPr id="25" name="Text 22"/>
          <p:cNvSpPr/>
          <p:nvPr/>
        </p:nvSpPr>
        <p:spPr>
          <a:xfrm>
            <a:off x="11292840" y="64556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27648"/>
            <a:ext cx="12191695" cy="82296"/>
          </a:xfrm>
          <a:prstGeom prst="rect">
            <a:avLst/>
          </a:prstGeom>
          <a:solidFill>
            <a:srgbClr val="D3AE43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9944"/>
            <a:ext cx="12191695" cy="448056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pic>
        <p:nvPicPr>
          <p:cNvPr id="5" name="Image 0" descr="/mnt/data/nge_logo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01168"/>
            <a:ext cx="960120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7772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FAMILLES DOMINANTES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512064" y="126187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E6A7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 qui ressort réellement du trimestre passé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9162288" y="228600"/>
            <a:ext cx="254203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262872" y="338328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7"/>
                </a:solidFill>
              </a:rPr>
              <a:t>Contribution RST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22960" y="192024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2630"/>
                </a:solidFill>
              </a:rPr>
              <a:t>Erreur / rigueur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337560" y="1956816"/>
            <a:ext cx="7772400" cy="128016"/>
          </a:xfrm>
          <a:prstGeom prst="rect">
            <a:avLst/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37560" y="1956816"/>
            <a:ext cx="7772400" cy="128016"/>
          </a:xfrm>
          <a:prstGeom prst="rect">
            <a:avLst/>
          </a:prstGeom>
          <a:solidFill>
            <a:srgbClr val="D3AE43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219688" y="189280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3AE43"/>
                </a:solidFill>
              </a:rPr>
              <a:t>26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22960" y="248716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2630"/>
                </a:solidFill>
              </a:rPr>
              <a:t>Technique / interfaces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337560" y="2523744"/>
            <a:ext cx="7772400" cy="128016"/>
          </a:xfrm>
          <a:prstGeom prst="rect">
            <a:avLst/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337560" y="2523744"/>
            <a:ext cx="3587262" cy="128016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219688" y="2459736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C77"/>
                </a:solidFill>
              </a:rPr>
              <a:t>12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22960" y="305409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2630"/>
                </a:solidFill>
              </a:rPr>
              <a:t>Méthode de travail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337560" y="3090672"/>
            <a:ext cx="7772400" cy="128016"/>
          </a:xfrm>
          <a:prstGeom prst="rect">
            <a:avLst/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337560" y="3090672"/>
            <a:ext cx="2092569" cy="128016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1219688" y="302666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C77"/>
                </a:solidFill>
              </a:rPr>
              <a:t>7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822960" y="362102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2630"/>
                </a:solidFill>
              </a:rPr>
              <a:t>Absence contrôle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3337560" y="3657600"/>
            <a:ext cx="7772400" cy="128016"/>
          </a:xfrm>
          <a:prstGeom prst="rect">
            <a:avLst/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337560" y="3657600"/>
            <a:ext cx="1793631" cy="128016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1219688" y="359359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C77"/>
                </a:solidFill>
              </a:rPr>
              <a:t>6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822960" y="418795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2630"/>
                </a:solidFill>
              </a:rPr>
              <a:t>Communication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3337560" y="4224528"/>
            <a:ext cx="7772400" cy="128016"/>
          </a:xfrm>
          <a:prstGeom prst="rect">
            <a:avLst/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337560" y="4224528"/>
            <a:ext cx="1793631" cy="128016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1219688" y="4160520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C77"/>
                </a:solidFill>
              </a:rPr>
              <a:t>6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777240" y="5257800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2630"/>
                </a:solidFill>
              </a:rPr>
              <a:t>Lecture : suivre les familles récurrentes plutôt que commenter les fiches une par une.</a:t>
            </a:r>
            <a:endParaRPr lang="en-US" sz="1450" dirty="0"/>
          </a:p>
        </p:txBody>
      </p:sp>
      <p:sp>
        <p:nvSpPr>
          <p:cNvPr id="31" name="Text 28"/>
          <p:cNvSpPr/>
          <p:nvPr/>
        </p:nvSpPr>
        <p:spPr>
          <a:xfrm>
            <a:off x="384048" y="651052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C2-LIMITÉ : Propriété de NGE</a:t>
            </a:r>
            <a:endParaRPr lang="en-US" sz="650" dirty="0"/>
          </a:p>
        </p:txBody>
      </p:sp>
      <p:sp>
        <p:nvSpPr>
          <p:cNvPr id="32" name="Text 29"/>
          <p:cNvSpPr/>
          <p:nvPr/>
        </p:nvSpPr>
        <p:spPr>
          <a:xfrm>
            <a:off x="11292840" y="64556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27648"/>
            <a:ext cx="12191695" cy="82296"/>
          </a:xfrm>
          <a:prstGeom prst="rect">
            <a:avLst/>
          </a:prstGeom>
          <a:solidFill>
            <a:srgbClr val="D3AE43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9944"/>
            <a:ext cx="12191695" cy="448056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pic>
        <p:nvPicPr>
          <p:cNvPr id="5" name="Image 0" descr="/mnt/data/nge_logo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01168"/>
            <a:ext cx="960120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7772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QUALITÉ DE TRAITEMENT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512064" y="126187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E6A7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Cause · action · pilote · échéance · preuve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9162288" y="228600"/>
            <a:ext cx="254203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262872" y="338328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7"/>
                </a:solidFill>
              </a:rPr>
              <a:t>Contribution RST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68680" y="187452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2630"/>
                </a:solidFill>
              </a:rPr>
              <a:t>Cause renseignée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383280" y="1911096"/>
            <a:ext cx="7680960" cy="128016"/>
          </a:xfrm>
          <a:prstGeom prst="rect">
            <a:avLst/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83280" y="1911096"/>
            <a:ext cx="5991149" cy="128016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173968" y="184708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C77"/>
                </a:solidFill>
              </a:rPr>
              <a:t>78%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68680" y="244144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2630"/>
                </a:solidFill>
              </a:rPr>
              <a:t>Action définie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383280" y="2478024"/>
            <a:ext cx="7680960" cy="128016"/>
          </a:xfrm>
          <a:prstGeom prst="rect">
            <a:avLst/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383280" y="2478024"/>
            <a:ext cx="5069434" cy="128016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173968" y="2414016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C77"/>
                </a:solidFill>
              </a:rPr>
              <a:t>66%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68680" y="300837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2630"/>
                </a:solidFill>
              </a:rPr>
              <a:t>Pilote identifié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383280" y="3044952"/>
            <a:ext cx="7680960" cy="128016"/>
          </a:xfrm>
          <a:prstGeom prst="rect">
            <a:avLst/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383280" y="3044952"/>
            <a:ext cx="5530291" cy="128016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1173968" y="298094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C77"/>
                </a:solidFill>
              </a:rPr>
              <a:t>72%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868680" y="357530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2630"/>
                </a:solidFill>
              </a:rPr>
              <a:t>Échéance renseignée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3383280" y="3611880"/>
            <a:ext cx="7680960" cy="128016"/>
          </a:xfrm>
          <a:prstGeom prst="rect">
            <a:avLst/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383280" y="3611880"/>
            <a:ext cx="4454957" cy="128016"/>
          </a:xfrm>
          <a:prstGeom prst="rect">
            <a:avLst/>
          </a:prstGeom>
          <a:solidFill>
            <a:srgbClr val="D3AE43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1173968" y="354787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3AE43"/>
                </a:solidFill>
              </a:rPr>
              <a:t>58%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868680" y="414223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2630"/>
                </a:solidFill>
              </a:rPr>
              <a:t>Clôture avec preuve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3383280" y="4178808"/>
            <a:ext cx="7680960" cy="128016"/>
          </a:xfrm>
          <a:prstGeom prst="rect">
            <a:avLst/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383280" y="4178808"/>
            <a:ext cx="3533242" cy="128016"/>
          </a:xfrm>
          <a:prstGeom prst="rect">
            <a:avLst/>
          </a:prstGeom>
          <a:solidFill>
            <a:srgbClr val="D3AE43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1173968" y="4114800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3AE43"/>
                </a:solidFill>
              </a:rPr>
              <a:t>46%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868680" y="5074920"/>
            <a:ext cx="10149840" cy="566928"/>
          </a:xfrm>
          <a:prstGeom prst="roundRect">
            <a:avLst>
              <a:gd name="adj" fmla="val 9677"/>
            </a:avLst>
          </a:prstGeom>
          <a:solidFill>
            <a:srgbClr val="F7F9FC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051560" y="5276088"/>
            <a:ext cx="9784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2C77"/>
                </a:solidFill>
              </a:rPr>
              <a:t>Point à suivre : une fiche sans cause, action ou pilote reste un constat non exploité.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384048" y="651052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C2-LIMITÉ : Propriété de NGE</a:t>
            </a:r>
            <a:endParaRPr lang="en-US" sz="650" dirty="0"/>
          </a:p>
        </p:txBody>
      </p:sp>
      <p:sp>
        <p:nvSpPr>
          <p:cNvPr id="33" name="Text 30"/>
          <p:cNvSpPr/>
          <p:nvPr/>
        </p:nvSpPr>
        <p:spPr>
          <a:xfrm>
            <a:off x="11292840" y="64556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27648"/>
            <a:ext cx="12191695" cy="82296"/>
          </a:xfrm>
          <a:prstGeom prst="rect">
            <a:avLst/>
          </a:prstGeom>
          <a:solidFill>
            <a:srgbClr val="D3AE43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9944"/>
            <a:ext cx="12191695" cy="448056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pic>
        <p:nvPicPr>
          <p:cNvPr id="5" name="Image 0" descr="/mnt/data/nge_logo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01168"/>
            <a:ext cx="960120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7772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PLAN D’ACTIONS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512064" y="126187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E6A7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Réalisé · en cours · en retard · à suivre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9162288" y="228600"/>
            <a:ext cx="254203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262872" y="338328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7"/>
                </a:solidFill>
              </a:rPr>
              <a:t>Contribution RST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1097280" y="1938528"/>
            <a:ext cx="4206240" cy="329184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33856" y="2011680"/>
            <a:ext cx="41330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Sujet</a:t>
            </a:r>
            <a:endParaRPr lang="en-US" sz="920" dirty="0"/>
          </a:p>
        </p:txBody>
      </p:sp>
      <p:sp>
        <p:nvSpPr>
          <p:cNvPr id="12" name="Shape 9"/>
          <p:cNvSpPr/>
          <p:nvPr/>
        </p:nvSpPr>
        <p:spPr>
          <a:xfrm>
            <a:off x="5303520" y="1938528"/>
            <a:ext cx="2057400" cy="329184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40096" y="2011680"/>
            <a:ext cx="1984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Pilote</a:t>
            </a:r>
            <a:endParaRPr lang="en-US" sz="920" dirty="0"/>
          </a:p>
        </p:txBody>
      </p:sp>
      <p:sp>
        <p:nvSpPr>
          <p:cNvPr id="14" name="Shape 11"/>
          <p:cNvSpPr/>
          <p:nvPr/>
        </p:nvSpPr>
        <p:spPr>
          <a:xfrm>
            <a:off x="7360920" y="1938528"/>
            <a:ext cx="1325880" cy="329184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97496" y="2011680"/>
            <a:ext cx="1252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Échéance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8686800" y="1938528"/>
            <a:ext cx="2011680" cy="329184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723376" y="2011680"/>
            <a:ext cx="19385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Statut</a:t>
            </a:r>
            <a:endParaRPr lang="en-US" sz="920" dirty="0"/>
          </a:p>
        </p:txBody>
      </p:sp>
      <p:sp>
        <p:nvSpPr>
          <p:cNvPr id="18" name="Shape 15"/>
          <p:cNvSpPr/>
          <p:nvPr/>
        </p:nvSpPr>
        <p:spPr>
          <a:xfrm>
            <a:off x="1097280" y="2267712"/>
            <a:ext cx="42062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133856" y="2322576"/>
            <a:ext cx="4133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630"/>
                </a:solidFill>
              </a:rPr>
              <a:t>Typologie des causes FNC</a:t>
            </a:r>
            <a:endParaRPr lang="en-US" sz="920" dirty="0"/>
          </a:p>
        </p:txBody>
      </p:sp>
      <p:sp>
        <p:nvSpPr>
          <p:cNvPr id="20" name="Shape 17"/>
          <p:cNvSpPr/>
          <p:nvPr/>
        </p:nvSpPr>
        <p:spPr>
          <a:xfrm>
            <a:off x="5303520" y="2267712"/>
            <a:ext cx="20574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340096" y="2322576"/>
            <a:ext cx="1984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630"/>
                </a:solidFill>
              </a:rPr>
              <a:t>RST / Qualité</a:t>
            </a:r>
            <a:endParaRPr lang="en-US" sz="920" dirty="0"/>
          </a:p>
        </p:txBody>
      </p:sp>
      <p:sp>
        <p:nvSpPr>
          <p:cNvPr id="22" name="Shape 19"/>
          <p:cNvSpPr/>
          <p:nvPr/>
        </p:nvSpPr>
        <p:spPr>
          <a:xfrm>
            <a:off x="7360920" y="2267712"/>
            <a:ext cx="13258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397496" y="2322576"/>
            <a:ext cx="1252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630"/>
                </a:solidFill>
              </a:rPr>
              <a:t>T2</a:t>
            </a:r>
            <a:endParaRPr lang="en-US" sz="920" dirty="0"/>
          </a:p>
        </p:txBody>
      </p:sp>
      <p:sp>
        <p:nvSpPr>
          <p:cNvPr id="24" name="Shape 21"/>
          <p:cNvSpPr/>
          <p:nvPr/>
        </p:nvSpPr>
        <p:spPr>
          <a:xfrm>
            <a:off x="8686800" y="2267712"/>
            <a:ext cx="2011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723376" y="2322576"/>
            <a:ext cx="1938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630"/>
                </a:solidFill>
              </a:rPr>
              <a:t>En cours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1097280" y="2743200"/>
            <a:ext cx="4206240" cy="475488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133856" y="2798064"/>
            <a:ext cx="4133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630"/>
                </a:solidFill>
              </a:rPr>
              <a:t>FAE environnement : cadre de suivi</a:t>
            </a:r>
            <a:endParaRPr lang="en-US" sz="920" dirty="0"/>
          </a:p>
        </p:txBody>
      </p:sp>
      <p:sp>
        <p:nvSpPr>
          <p:cNvPr id="28" name="Shape 25"/>
          <p:cNvSpPr/>
          <p:nvPr/>
        </p:nvSpPr>
        <p:spPr>
          <a:xfrm>
            <a:off x="5303520" y="2743200"/>
            <a:ext cx="2057400" cy="475488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340096" y="2798064"/>
            <a:ext cx="1984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630"/>
                </a:solidFill>
              </a:rPr>
              <a:t>QSE / exploitation</a:t>
            </a:r>
            <a:endParaRPr lang="en-US" sz="920" dirty="0"/>
          </a:p>
        </p:txBody>
      </p:sp>
      <p:sp>
        <p:nvSpPr>
          <p:cNvPr id="30" name="Shape 27"/>
          <p:cNvSpPr/>
          <p:nvPr/>
        </p:nvSpPr>
        <p:spPr>
          <a:xfrm>
            <a:off x="7360920" y="2743200"/>
            <a:ext cx="1325880" cy="475488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397496" y="2798064"/>
            <a:ext cx="1252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630"/>
                </a:solidFill>
              </a:rPr>
              <a:t>T2</a:t>
            </a:r>
            <a:endParaRPr lang="en-US" sz="920" dirty="0"/>
          </a:p>
        </p:txBody>
      </p:sp>
      <p:sp>
        <p:nvSpPr>
          <p:cNvPr id="32" name="Shape 29"/>
          <p:cNvSpPr/>
          <p:nvPr/>
        </p:nvSpPr>
        <p:spPr>
          <a:xfrm>
            <a:off x="8686800" y="2743200"/>
            <a:ext cx="2011680" cy="475488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723376" y="2798064"/>
            <a:ext cx="1938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630"/>
                </a:solidFill>
              </a:rPr>
              <a:t>À structurer</a:t>
            </a:r>
            <a:endParaRPr lang="en-US" sz="920" dirty="0"/>
          </a:p>
        </p:txBody>
      </p:sp>
      <p:sp>
        <p:nvSpPr>
          <p:cNvPr id="34" name="Shape 31"/>
          <p:cNvSpPr/>
          <p:nvPr/>
        </p:nvSpPr>
        <p:spPr>
          <a:xfrm>
            <a:off x="1097280" y="3218688"/>
            <a:ext cx="42062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133856" y="3273552"/>
            <a:ext cx="4133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630"/>
                </a:solidFill>
              </a:rPr>
              <a:t>Diffusion BP / supports 1/4h</a:t>
            </a:r>
            <a:endParaRPr lang="en-US" sz="920" dirty="0"/>
          </a:p>
        </p:txBody>
      </p:sp>
      <p:sp>
        <p:nvSpPr>
          <p:cNvPr id="36" name="Shape 33"/>
          <p:cNvSpPr/>
          <p:nvPr/>
        </p:nvSpPr>
        <p:spPr>
          <a:xfrm>
            <a:off x="5303520" y="3218688"/>
            <a:ext cx="20574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340096" y="3273552"/>
            <a:ext cx="1984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630"/>
                </a:solidFill>
              </a:rPr>
              <a:t>Qualité / agences</a:t>
            </a:r>
            <a:endParaRPr lang="en-US" sz="920" dirty="0"/>
          </a:p>
        </p:txBody>
      </p:sp>
      <p:sp>
        <p:nvSpPr>
          <p:cNvPr id="38" name="Shape 35"/>
          <p:cNvSpPr/>
          <p:nvPr/>
        </p:nvSpPr>
        <p:spPr>
          <a:xfrm>
            <a:off x="7360920" y="3218688"/>
            <a:ext cx="13258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397496" y="3273552"/>
            <a:ext cx="1252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630"/>
                </a:solidFill>
              </a:rPr>
              <a:t>T2-T3</a:t>
            </a:r>
            <a:endParaRPr lang="en-US" sz="920" dirty="0"/>
          </a:p>
        </p:txBody>
      </p:sp>
      <p:sp>
        <p:nvSpPr>
          <p:cNvPr id="40" name="Shape 37"/>
          <p:cNvSpPr/>
          <p:nvPr/>
        </p:nvSpPr>
        <p:spPr>
          <a:xfrm>
            <a:off x="8686800" y="3218688"/>
            <a:ext cx="2011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723376" y="3273552"/>
            <a:ext cx="1938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630"/>
                </a:solidFill>
              </a:rPr>
              <a:t>À lancer</a:t>
            </a:r>
            <a:endParaRPr lang="en-US" sz="920" dirty="0"/>
          </a:p>
        </p:txBody>
      </p:sp>
      <p:sp>
        <p:nvSpPr>
          <p:cNvPr id="42" name="Shape 39"/>
          <p:cNvSpPr/>
          <p:nvPr/>
        </p:nvSpPr>
        <p:spPr>
          <a:xfrm>
            <a:off x="1097280" y="3694176"/>
            <a:ext cx="4206240" cy="475488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133856" y="3749040"/>
            <a:ext cx="4133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630"/>
                </a:solidFill>
              </a:rPr>
              <a:t>Actions en retard</a:t>
            </a:r>
            <a:endParaRPr lang="en-US" sz="920" dirty="0"/>
          </a:p>
        </p:txBody>
      </p:sp>
      <p:sp>
        <p:nvSpPr>
          <p:cNvPr id="44" name="Shape 41"/>
          <p:cNvSpPr/>
          <p:nvPr/>
        </p:nvSpPr>
        <p:spPr>
          <a:xfrm>
            <a:off x="5303520" y="3694176"/>
            <a:ext cx="2057400" cy="475488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340096" y="3749040"/>
            <a:ext cx="1984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630"/>
                </a:solidFill>
              </a:rPr>
              <a:t>Pilotes actions</a:t>
            </a:r>
            <a:endParaRPr lang="en-US" sz="920" dirty="0"/>
          </a:p>
        </p:txBody>
      </p:sp>
      <p:sp>
        <p:nvSpPr>
          <p:cNvPr id="46" name="Shape 43"/>
          <p:cNvSpPr/>
          <p:nvPr/>
        </p:nvSpPr>
        <p:spPr>
          <a:xfrm>
            <a:off x="7360920" y="3694176"/>
            <a:ext cx="1325880" cy="475488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397496" y="3749040"/>
            <a:ext cx="1252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630"/>
                </a:solidFill>
              </a:rPr>
              <a:t>À date</a:t>
            </a:r>
            <a:endParaRPr lang="en-US" sz="920" dirty="0"/>
          </a:p>
        </p:txBody>
      </p:sp>
      <p:sp>
        <p:nvSpPr>
          <p:cNvPr id="48" name="Shape 45"/>
          <p:cNvSpPr/>
          <p:nvPr/>
        </p:nvSpPr>
        <p:spPr>
          <a:xfrm>
            <a:off x="8686800" y="3694176"/>
            <a:ext cx="2011680" cy="475488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8723376" y="3749040"/>
            <a:ext cx="1938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630"/>
                </a:solidFill>
              </a:rPr>
              <a:t>À suivre</a:t>
            </a:r>
            <a:endParaRPr lang="en-US" sz="920" dirty="0"/>
          </a:p>
        </p:txBody>
      </p:sp>
      <p:sp>
        <p:nvSpPr>
          <p:cNvPr id="50" name="Shape 47"/>
          <p:cNvSpPr/>
          <p:nvPr/>
        </p:nvSpPr>
        <p:spPr>
          <a:xfrm>
            <a:off x="1097280" y="4169664"/>
            <a:ext cx="42062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133856" y="4224528"/>
            <a:ext cx="4133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630"/>
                </a:solidFill>
              </a:rPr>
              <a:t>Traitement des fiches incomplètes</a:t>
            </a:r>
            <a:endParaRPr lang="en-US" sz="920" dirty="0"/>
          </a:p>
        </p:txBody>
      </p:sp>
      <p:sp>
        <p:nvSpPr>
          <p:cNvPr id="52" name="Shape 49"/>
          <p:cNvSpPr/>
          <p:nvPr/>
        </p:nvSpPr>
        <p:spPr>
          <a:xfrm>
            <a:off x="5303520" y="4169664"/>
            <a:ext cx="20574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5340096" y="4224528"/>
            <a:ext cx="1984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630"/>
                </a:solidFill>
              </a:rPr>
              <a:t>Responsables</a:t>
            </a:r>
            <a:endParaRPr lang="en-US" sz="920" dirty="0"/>
          </a:p>
        </p:txBody>
      </p:sp>
      <p:sp>
        <p:nvSpPr>
          <p:cNvPr id="54" name="Shape 51"/>
          <p:cNvSpPr/>
          <p:nvPr/>
        </p:nvSpPr>
        <p:spPr>
          <a:xfrm>
            <a:off x="7360920" y="4169664"/>
            <a:ext cx="13258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7397496" y="4224528"/>
            <a:ext cx="1252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630"/>
                </a:solidFill>
              </a:rPr>
              <a:t>T2</a:t>
            </a:r>
            <a:endParaRPr lang="en-US" sz="920" dirty="0"/>
          </a:p>
        </p:txBody>
      </p:sp>
      <p:sp>
        <p:nvSpPr>
          <p:cNvPr id="56" name="Shape 53"/>
          <p:cNvSpPr/>
          <p:nvPr/>
        </p:nvSpPr>
        <p:spPr>
          <a:xfrm>
            <a:off x="8686800" y="4169664"/>
            <a:ext cx="2011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8723376" y="4224528"/>
            <a:ext cx="1938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630"/>
                </a:solidFill>
              </a:rPr>
              <a:t>En cours</a:t>
            </a:r>
            <a:endParaRPr lang="en-US" sz="920" dirty="0"/>
          </a:p>
        </p:txBody>
      </p:sp>
      <p:sp>
        <p:nvSpPr>
          <p:cNvPr id="58" name="Text 55"/>
          <p:cNvSpPr/>
          <p:nvPr/>
        </p:nvSpPr>
        <p:spPr>
          <a:xfrm>
            <a:off x="1005840" y="523036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2C77"/>
                </a:solidFill>
              </a:rPr>
              <a:t>Lecture : état d’avancement, actions en retard, points à suivre.</a:t>
            </a:r>
            <a:endParaRPr lang="en-US" sz="1500" dirty="0"/>
          </a:p>
        </p:txBody>
      </p:sp>
      <p:sp>
        <p:nvSpPr>
          <p:cNvPr id="59" name="Text 56"/>
          <p:cNvSpPr/>
          <p:nvPr/>
        </p:nvSpPr>
        <p:spPr>
          <a:xfrm>
            <a:off x="384048" y="651052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C2-LIMITÉ : Propriété de NGE</a:t>
            </a:r>
            <a:endParaRPr lang="en-US" sz="650" dirty="0"/>
          </a:p>
        </p:txBody>
      </p:sp>
      <p:sp>
        <p:nvSpPr>
          <p:cNvPr id="60" name="Text 57"/>
          <p:cNvSpPr/>
          <p:nvPr/>
        </p:nvSpPr>
        <p:spPr>
          <a:xfrm>
            <a:off x="11292840" y="64556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27648"/>
            <a:ext cx="12191695" cy="82296"/>
          </a:xfrm>
          <a:prstGeom prst="rect">
            <a:avLst/>
          </a:prstGeom>
          <a:solidFill>
            <a:srgbClr val="D3AE43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9944"/>
            <a:ext cx="12191695" cy="448056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pic>
        <p:nvPicPr>
          <p:cNvPr id="5" name="Image 0" descr="/mnt/data/nge_logo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01168"/>
            <a:ext cx="960120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7772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POINTS DE VIGILANCE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512064" y="126187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E6A7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Suivi du trimestre en cours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9162288" y="228600"/>
            <a:ext cx="254203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262872" y="338328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7"/>
                </a:solidFill>
              </a:rPr>
              <a:t>Contribution RST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777240" y="1828800"/>
            <a:ext cx="5074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240">
            <a:solidFill>
              <a:srgbClr val="A32D2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78408" y="1993392"/>
            <a:ext cx="4617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A32D2D"/>
                </a:solidFill>
              </a:rPr>
              <a:t>Actions en retard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78408" y="2331720"/>
            <a:ext cx="4617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6A78"/>
                </a:solidFill>
              </a:rPr>
              <a:t>pilotage et échéances à fiabiliser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400800" y="1828800"/>
            <a:ext cx="5074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240">
            <a:solidFill>
              <a:srgbClr val="854F0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01968" y="1993392"/>
            <a:ext cx="4617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854F0B"/>
                </a:solidFill>
              </a:rPr>
              <a:t>Fiches incomplètes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601968" y="2331720"/>
            <a:ext cx="4617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6A78"/>
                </a:solidFill>
              </a:rPr>
              <a:t>cause / action / pilote / coût ou justification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77240" y="3063240"/>
            <a:ext cx="5074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240">
            <a:solidFill>
              <a:srgbClr val="002C7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78408" y="3227832"/>
            <a:ext cx="4617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02C77"/>
                </a:solidFill>
              </a:rPr>
              <a:t>Familles récurrentes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78408" y="3566160"/>
            <a:ext cx="4617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6A78"/>
                </a:solidFill>
              </a:rPr>
              <a:t>interfaces, méthode, contrôle, communication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400800" y="3063240"/>
            <a:ext cx="5074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240">
            <a:solidFill>
              <a:srgbClr val="3B6D1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01968" y="3227832"/>
            <a:ext cx="4617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B6D11"/>
                </a:solidFill>
              </a:rPr>
              <a:t>Sujets laboratoire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601968" y="3566160"/>
            <a:ext cx="4617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6A78"/>
                </a:solidFill>
              </a:rPr>
              <a:t>compétences, métrologie, équipements, méthodes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384048" y="651052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C2-LIMITÉ : Propriété de NGE</a:t>
            </a:r>
            <a:endParaRPr lang="en-US" sz="650" dirty="0"/>
          </a:p>
        </p:txBody>
      </p:sp>
      <p:sp>
        <p:nvSpPr>
          <p:cNvPr id="23" name="Text 20"/>
          <p:cNvSpPr/>
          <p:nvPr/>
        </p:nvSpPr>
        <p:spPr>
          <a:xfrm>
            <a:off x="11292840" y="64556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2C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40680"/>
            <a:ext cx="12191695" cy="219456"/>
          </a:xfrm>
          <a:prstGeom prst="rect">
            <a:avLst/>
          </a:prstGeom>
          <a:solidFill>
            <a:srgbClr val="D3AE43"/>
          </a:solidFill>
          <a:ln w="12700">
            <a:solidFill>
              <a:srgbClr val="D3AE43"/>
            </a:solidFill>
            <a:prstDash val="solid"/>
          </a:ln>
        </p:spPr>
      </p:sp>
      <p:pic>
        <p:nvPicPr>
          <p:cNvPr id="4" name="Image 0" descr="/mnt/data/nge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01168"/>
            <a:ext cx="9601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3232" y="19659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FEUILLE DE ROUTE LABORATOIRE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749808" y="288036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AF1FA"/>
                </a:solidFill>
              </a:rPr>
              <a:t>Avancement · points de vigilance · prochaines échéances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349300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AF1FA"/>
                </a:solidFill>
              </a:rPr>
              <a:t>Contribution RST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84048" y="651052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C2-LIMITÉ : Propriété de NGE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11292840" y="64556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27648"/>
            <a:ext cx="12191695" cy="82296"/>
          </a:xfrm>
          <a:prstGeom prst="rect">
            <a:avLst/>
          </a:prstGeom>
          <a:solidFill>
            <a:srgbClr val="D3AE43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9944"/>
            <a:ext cx="12191695" cy="448056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pic>
        <p:nvPicPr>
          <p:cNvPr id="5" name="Image 0" descr="/mnt/data/nge_logo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01168"/>
            <a:ext cx="960120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7772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FEUILLE DE ROUTE LABORATOIRE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512064" y="126187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E6A7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 axes issus du travail de préparation audit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9162288" y="228600"/>
            <a:ext cx="254203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262872" y="338328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7"/>
                </a:solidFill>
              </a:rPr>
              <a:t>Contribution RST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685800" y="1828800"/>
            <a:ext cx="24688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240">
            <a:solidFill>
              <a:srgbClr val="D9E1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13816" y="20756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630"/>
                </a:solidFill>
              </a:rPr>
              <a:t>Planification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3520440" y="1828800"/>
            <a:ext cx="24688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240">
            <a:solidFill>
              <a:srgbClr val="D9E1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48456" y="20756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630"/>
                </a:solidFill>
              </a:rPr>
              <a:t>Traçabilité technique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355080" y="1828800"/>
            <a:ext cx="24688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240">
            <a:solidFill>
              <a:srgbClr val="D9E1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83096" y="20756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630"/>
                </a:solidFill>
              </a:rPr>
              <a:t>Compétences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9189720" y="1828800"/>
            <a:ext cx="24688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240">
            <a:solidFill>
              <a:srgbClr val="D9E1E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317736" y="20756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630"/>
                </a:solidFill>
              </a:rPr>
              <a:t>Équipements / métrologie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85800" y="2999232"/>
            <a:ext cx="24688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240">
            <a:solidFill>
              <a:srgbClr val="D9E1E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13816" y="32461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630"/>
                </a:solidFill>
              </a:rPr>
              <a:t>Urgences / prévention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3520440" y="2999232"/>
            <a:ext cx="24688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240">
            <a:solidFill>
              <a:srgbClr val="D9E1E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648456" y="32461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630"/>
                </a:solidFill>
              </a:rPr>
              <a:t>Outils digitaux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355080" y="2999232"/>
            <a:ext cx="2468880" cy="804672"/>
          </a:xfrm>
          <a:prstGeom prst="roundRect">
            <a:avLst>
              <a:gd name="adj" fmla="val 9091"/>
            </a:avLst>
          </a:prstGeom>
          <a:solidFill>
            <a:srgbClr val="002C77"/>
          </a:solidFill>
          <a:ln w="15240">
            <a:solidFill>
              <a:srgbClr val="002C7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83096" y="32461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Appui technique chantier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822960" y="5074920"/>
            <a:ext cx="10149840" cy="502920"/>
          </a:xfrm>
          <a:prstGeom prst="roundRect">
            <a:avLst>
              <a:gd name="adj" fmla="val 10909"/>
            </a:avLst>
          </a:prstGeom>
          <a:solidFill>
            <a:srgbClr val="F7F9FC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05840" y="525780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2C77"/>
                </a:solidFill>
              </a:rPr>
              <a:t>Lecture CODIR : avancement, échéances et points de vigilance du service laboratoire.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384048" y="651052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C2-LIMITÉ : Propriété de NGE</a:t>
            </a:r>
            <a:endParaRPr lang="en-US" sz="650" dirty="0"/>
          </a:p>
        </p:txBody>
      </p:sp>
      <p:sp>
        <p:nvSpPr>
          <p:cNvPr id="27" name="Text 24"/>
          <p:cNvSpPr/>
          <p:nvPr/>
        </p:nvSpPr>
        <p:spPr>
          <a:xfrm>
            <a:off x="11292840" y="64556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27648"/>
            <a:ext cx="12191695" cy="82296"/>
          </a:xfrm>
          <a:prstGeom prst="rect">
            <a:avLst/>
          </a:prstGeom>
          <a:solidFill>
            <a:srgbClr val="D3AE43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9944"/>
            <a:ext cx="12191695" cy="448056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pic>
        <p:nvPicPr>
          <p:cNvPr id="5" name="Image 0" descr="/mnt/data/nge_logo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01168"/>
            <a:ext cx="960120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7772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FEUILLE DE ROUTE LABORATOIRE — AXE 1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12064" y="126187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E6A7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Planification du service et interface exploitation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9162288" y="228600"/>
            <a:ext cx="254203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262872" y="338328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7"/>
                </a:solidFill>
              </a:rPr>
              <a:t>Contribution RST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02920" y="1719072"/>
            <a:ext cx="11155680" cy="1078992"/>
          </a:xfrm>
          <a:prstGeom prst="roundRect">
            <a:avLst>
              <a:gd name="adj" fmla="val 5085"/>
            </a:avLst>
          </a:prstGeom>
          <a:solidFill>
            <a:srgbClr val="F7F9FC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232" y="1874520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C77"/>
                </a:solidFill>
              </a:rPr>
              <a:t>OBJECTIF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965960" y="1819656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F2630"/>
                </a:solidFill>
              </a:rPr>
              <a:t>Structurer la planification du service et l’interface avec l’exploitation.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13232" y="221284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C77"/>
                </a:solidFill>
              </a:rPr>
              <a:t>INDICATEUR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965960" y="2157984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E6A78"/>
                </a:solidFill>
              </a:rPr>
              <a:t>Visibilité sur la charge, priorisation partagée, anticipation des besoins exploitation / chantier.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13232" y="2514600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C77"/>
                </a:solidFill>
              </a:rPr>
              <a:t>CIBLE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965960" y="2459736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E6A78"/>
                </a:solidFill>
              </a:rPr>
              <a:t>Planification plus lisible, partagée, distinguant les vraies urgences des ajustements subis.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13232" y="3090672"/>
            <a:ext cx="5212080" cy="329184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9808" y="3163824"/>
            <a:ext cx="5138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Actions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925312" y="3090672"/>
            <a:ext cx="1920240" cy="329184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61888" y="3163824"/>
            <a:ext cx="18470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Pilote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7845552" y="3090672"/>
            <a:ext cx="1188720" cy="329184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882128" y="3163824"/>
            <a:ext cx="1115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Délai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9034272" y="3090672"/>
            <a:ext cx="2331720" cy="329184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070848" y="3163824"/>
            <a:ext cx="2258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État / efficacité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713232" y="3419856"/>
            <a:ext cx="52120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49808" y="3474720"/>
            <a:ext cx="513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Consolider un support partagé de planification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5925312" y="3419856"/>
            <a:ext cx="19202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961888" y="3474720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RST + responsables labo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7845552" y="3419856"/>
            <a:ext cx="1188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882128" y="3474720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S1 2026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9034272" y="3419856"/>
            <a:ext cx="2331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070848" y="3474720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En cours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713232" y="3813048"/>
            <a:ext cx="521208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49808" y="3867912"/>
            <a:ext cx="513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Intégrer les éléments de visibilité transmis par l’exploitation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5925312" y="3813048"/>
            <a:ext cx="192024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961888" y="3867912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RST + exploitation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7845552" y="3813048"/>
            <a:ext cx="118872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882128" y="3867912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S1 2026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9034272" y="3813048"/>
            <a:ext cx="233172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070848" y="3867912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En cours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13232" y="4206240"/>
            <a:ext cx="52120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49808" y="4261104"/>
            <a:ext cx="513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Clarifier les règles de priorisation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5925312" y="4206240"/>
            <a:ext cx="19202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961888" y="4261104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RST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7845552" y="4206240"/>
            <a:ext cx="1188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882128" y="4261104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S1 2026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9034272" y="4206240"/>
            <a:ext cx="2331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9070848" y="4261104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À structurer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713232" y="4599432"/>
            <a:ext cx="521208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749808" y="4654296"/>
            <a:ext cx="513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Mettre en place un point régulier charge / priorités</a:t>
            </a:r>
            <a:endParaRPr lang="en-US" sz="850" dirty="0"/>
          </a:p>
        </p:txBody>
      </p:sp>
      <p:sp>
        <p:nvSpPr>
          <p:cNvPr id="51" name="Shape 48"/>
          <p:cNvSpPr/>
          <p:nvPr/>
        </p:nvSpPr>
        <p:spPr>
          <a:xfrm>
            <a:off x="5925312" y="4599432"/>
            <a:ext cx="192024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961888" y="4654296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RST + responsables labo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7845552" y="4599432"/>
            <a:ext cx="118872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882128" y="4654296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2026</a:t>
            </a:r>
            <a:endParaRPr lang="en-US" sz="850" dirty="0"/>
          </a:p>
        </p:txBody>
      </p:sp>
      <p:sp>
        <p:nvSpPr>
          <p:cNvPr id="55" name="Shape 52"/>
          <p:cNvSpPr/>
          <p:nvPr/>
        </p:nvSpPr>
        <p:spPr>
          <a:xfrm>
            <a:off x="9034272" y="4599432"/>
            <a:ext cx="233172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9070848" y="4654296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À lancer</a:t>
            </a:r>
            <a:endParaRPr lang="en-US" sz="850" dirty="0"/>
          </a:p>
        </p:txBody>
      </p:sp>
      <p:sp>
        <p:nvSpPr>
          <p:cNvPr id="57" name="Shape 54"/>
          <p:cNvSpPr/>
          <p:nvPr/>
        </p:nvSpPr>
        <p:spPr>
          <a:xfrm>
            <a:off x="713232" y="4992624"/>
            <a:ext cx="52120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749808" y="5047488"/>
            <a:ext cx="513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Tracer les arbitrages sur les demandes sensibles</a:t>
            </a:r>
            <a:endParaRPr lang="en-US" sz="850" dirty="0"/>
          </a:p>
        </p:txBody>
      </p:sp>
      <p:sp>
        <p:nvSpPr>
          <p:cNvPr id="59" name="Shape 56"/>
          <p:cNvSpPr/>
          <p:nvPr/>
        </p:nvSpPr>
        <p:spPr>
          <a:xfrm>
            <a:off x="5925312" y="4992624"/>
            <a:ext cx="19202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5961888" y="5047488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RST</a:t>
            </a:r>
            <a:endParaRPr lang="en-US" sz="850" dirty="0"/>
          </a:p>
        </p:txBody>
      </p:sp>
      <p:sp>
        <p:nvSpPr>
          <p:cNvPr id="61" name="Shape 58"/>
          <p:cNvSpPr/>
          <p:nvPr/>
        </p:nvSpPr>
        <p:spPr>
          <a:xfrm>
            <a:off x="7845552" y="4992624"/>
            <a:ext cx="1188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7882128" y="5047488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2026</a:t>
            </a:r>
            <a:endParaRPr lang="en-US" sz="850" dirty="0"/>
          </a:p>
        </p:txBody>
      </p:sp>
      <p:sp>
        <p:nvSpPr>
          <p:cNvPr id="63" name="Shape 60"/>
          <p:cNvSpPr/>
          <p:nvPr/>
        </p:nvSpPr>
        <p:spPr>
          <a:xfrm>
            <a:off x="9034272" y="4992624"/>
            <a:ext cx="2331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9070848" y="5047488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À structurer</a:t>
            </a:r>
            <a:endParaRPr lang="en-US" sz="850" dirty="0"/>
          </a:p>
        </p:txBody>
      </p:sp>
      <p:sp>
        <p:nvSpPr>
          <p:cNvPr id="65" name="Text 62"/>
          <p:cNvSpPr/>
          <p:nvPr/>
        </p:nvSpPr>
        <p:spPr>
          <a:xfrm>
            <a:off x="384048" y="651052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C2-LIMITÉ : Propriété de NGE</a:t>
            </a:r>
            <a:endParaRPr lang="en-US" sz="650" dirty="0"/>
          </a:p>
        </p:txBody>
      </p:sp>
      <p:sp>
        <p:nvSpPr>
          <p:cNvPr id="66" name="Text 63"/>
          <p:cNvSpPr/>
          <p:nvPr/>
        </p:nvSpPr>
        <p:spPr>
          <a:xfrm>
            <a:off x="11292840" y="64556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27648"/>
            <a:ext cx="12191695" cy="82296"/>
          </a:xfrm>
          <a:prstGeom prst="rect">
            <a:avLst/>
          </a:prstGeom>
          <a:solidFill>
            <a:srgbClr val="D3AE43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9944"/>
            <a:ext cx="12191695" cy="448056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pic>
        <p:nvPicPr>
          <p:cNvPr id="5" name="Image 0" descr="/mnt/data/nge_logo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01168"/>
            <a:ext cx="960120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7772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FEUILLE DE ROUTE LABORATOIRE — AXE 2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12064" y="126187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E6A7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Traçabilité technique et qualité des restitutions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9162288" y="228600"/>
            <a:ext cx="254203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262872" y="338328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7"/>
                </a:solidFill>
              </a:rPr>
              <a:t>Contribution RST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02920" y="1719072"/>
            <a:ext cx="11155680" cy="1078992"/>
          </a:xfrm>
          <a:prstGeom prst="roundRect">
            <a:avLst>
              <a:gd name="adj" fmla="val 5085"/>
            </a:avLst>
          </a:prstGeom>
          <a:solidFill>
            <a:srgbClr val="F7F9FC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232" y="1874520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C77"/>
                </a:solidFill>
              </a:rPr>
              <a:t>OBJECTIF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965960" y="1819656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F2630"/>
                </a:solidFill>
              </a:rPr>
              <a:t>Fiabiliser la traçabilité technique et la qualité des restitutions.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13232" y="221284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C77"/>
                </a:solidFill>
              </a:rPr>
              <a:t>INDICATEUR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965960" y="2157984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E6A78"/>
                </a:solidFill>
              </a:rPr>
              <a:t>Constats formalisés, relecture des rapports, traçabilité des écarts et retours terrain.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13232" y="2514600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C77"/>
                </a:solidFill>
              </a:rPr>
              <a:t>CIBLE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965960" y="2459736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E6A78"/>
                </a:solidFill>
              </a:rPr>
              <a:t>Constats, non-conformités, relectures et restitutions homogènes, lisibles et exploitables.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13232" y="3090672"/>
            <a:ext cx="5212080" cy="329184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9808" y="3163824"/>
            <a:ext cx="5138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Actions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925312" y="3090672"/>
            <a:ext cx="1920240" cy="329184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61888" y="3163824"/>
            <a:ext cx="18470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Pilote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7845552" y="3090672"/>
            <a:ext cx="1188720" cy="329184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882128" y="3163824"/>
            <a:ext cx="1115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Délai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9034272" y="3090672"/>
            <a:ext cx="2331720" cy="329184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070848" y="3163824"/>
            <a:ext cx="2258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État / efficacité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713232" y="3419856"/>
            <a:ext cx="52120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49808" y="3474720"/>
            <a:ext cx="513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Déployer l’usage des constats laboratoire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5925312" y="3419856"/>
            <a:ext cx="19202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961888" y="3474720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RST + responsables labo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7845552" y="3419856"/>
            <a:ext cx="1188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882128" y="3474720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S1 2026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9034272" y="3419856"/>
            <a:ext cx="2331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070848" y="3474720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En cours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713232" y="3813048"/>
            <a:ext cx="521208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49808" y="3867912"/>
            <a:ext cx="513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Structurer la relecture des rapports avant envoi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5925312" y="3813048"/>
            <a:ext cx="192024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961888" y="3867912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RST + responsables labo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7845552" y="3813048"/>
            <a:ext cx="118872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882128" y="3867912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S1 2026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9034272" y="3813048"/>
            <a:ext cx="233172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070848" y="3867912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En structuration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13232" y="4206240"/>
            <a:ext cx="52120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49808" y="4261104"/>
            <a:ext cx="513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Harmoniser les modalités de restitution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5925312" y="4206240"/>
            <a:ext cx="19202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961888" y="4261104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RST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7845552" y="4206240"/>
            <a:ext cx="1188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882128" y="4261104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2026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9034272" y="4206240"/>
            <a:ext cx="2331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9070848" y="4261104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À consolider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713232" y="4599432"/>
            <a:ext cx="521208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749808" y="4654296"/>
            <a:ext cx="513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Formaliser NC, retours terrain et REX utiles au service</a:t>
            </a:r>
            <a:endParaRPr lang="en-US" sz="850" dirty="0"/>
          </a:p>
        </p:txBody>
      </p:sp>
      <p:sp>
        <p:nvSpPr>
          <p:cNvPr id="51" name="Shape 48"/>
          <p:cNvSpPr/>
          <p:nvPr/>
        </p:nvSpPr>
        <p:spPr>
          <a:xfrm>
            <a:off x="5925312" y="4599432"/>
            <a:ext cx="192024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961888" y="4654296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RST + responsables labo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7845552" y="4599432"/>
            <a:ext cx="118872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882128" y="4654296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2026</a:t>
            </a:r>
            <a:endParaRPr lang="en-US" sz="850" dirty="0"/>
          </a:p>
        </p:txBody>
      </p:sp>
      <p:sp>
        <p:nvSpPr>
          <p:cNvPr id="55" name="Shape 52"/>
          <p:cNvSpPr/>
          <p:nvPr/>
        </p:nvSpPr>
        <p:spPr>
          <a:xfrm>
            <a:off x="9034272" y="4599432"/>
            <a:ext cx="233172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9070848" y="4654296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À structurer</a:t>
            </a:r>
            <a:endParaRPr lang="en-US" sz="850" dirty="0"/>
          </a:p>
        </p:txBody>
      </p:sp>
      <p:sp>
        <p:nvSpPr>
          <p:cNvPr id="57" name="Shape 54"/>
          <p:cNvSpPr/>
          <p:nvPr/>
        </p:nvSpPr>
        <p:spPr>
          <a:xfrm>
            <a:off x="713232" y="4992624"/>
            <a:ext cx="52120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749808" y="5047488"/>
            <a:ext cx="513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Mettre en place un temps régulier de retour sur écarts significatifs</a:t>
            </a:r>
            <a:endParaRPr lang="en-US" sz="850" dirty="0"/>
          </a:p>
        </p:txBody>
      </p:sp>
      <p:sp>
        <p:nvSpPr>
          <p:cNvPr id="59" name="Shape 56"/>
          <p:cNvSpPr/>
          <p:nvPr/>
        </p:nvSpPr>
        <p:spPr>
          <a:xfrm>
            <a:off x="5925312" y="4992624"/>
            <a:ext cx="19202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5961888" y="5047488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RST</a:t>
            </a:r>
            <a:endParaRPr lang="en-US" sz="850" dirty="0"/>
          </a:p>
        </p:txBody>
      </p:sp>
      <p:sp>
        <p:nvSpPr>
          <p:cNvPr id="61" name="Shape 58"/>
          <p:cNvSpPr/>
          <p:nvPr/>
        </p:nvSpPr>
        <p:spPr>
          <a:xfrm>
            <a:off x="7845552" y="4992624"/>
            <a:ext cx="1188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7882128" y="5047488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2026</a:t>
            </a:r>
            <a:endParaRPr lang="en-US" sz="850" dirty="0"/>
          </a:p>
        </p:txBody>
      </p:sp>
      <p:sp>
        <p:nvSpPr>
          <p:cNvPr id="63" name="Shape 60"/>
          <p:cNvSpPr/>
          <p:nvPr/>
        </p:nvSpPr>
        <p:spPr>
          <a:xfrm>
            <a:off x="9034272" y="4992624"/>
            <a:ext cx="2331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9070848" y="5047488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À lancer</a:t>
            </a:r>
            <a:endParaRPr lang="en-US" sz="850" dirty="0"/>
          </a:p>
        </p:txBody>
      </p:sp>
      <p:sp>
        <p:nvSpPr>
          <p:cNvPr id="65" name="Text 62"/>
          <p:cNvSpPr/>
          <p:nvPr/>
        </p:nvSpPr>
        <p:spPr>
          <a:xfrm>
            <a:off x="384048" y="651052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C2-LIMITÉ : Propriété de NGE</a:t>
            </a:r>
            <a:endParaRPr lang="en-US" sz="650" dirty="0"/>
          </a:p>
        </p:txBody>
      </p:sp>
      <p:sp>
        <p:nvSpPr>
          <p:cNvPr id="66" name="Text 63"/>
          <p:cNvSpPr/>
          <p:nvPr/>
        </p:nvSpPr>
        <p:spPr>
          <a:xfrm>
            <a:off x="11292840" y="64556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27648"/>
            <a:ext cx="12191695" cy="82296"/>
          </a:xfrm>
          <a:prstGeom prst="rect">
            <a:avLst/>
          </a:prstGeom>
          <a:solidFill>
            <a:srgbClr val="D3AE43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9944"/>
            <a:ext cx="12191695" cy="448056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pic>
        <p:nvPicPr>
          <p:cNvPr id="5" name="Image 0" descr="/mnt/data/nge_logo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01168"/>
            <a:ext cx="960120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7772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FEUILLE DE ROUTE LABORATOIRE — AXE 3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12064" y="126187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E6A7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Compétences du service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9162288" y="228600"/>
            <a:ext cx="254203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262872" y="338328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7"/>
                </a:solidFill>
              </a:rPr>
              <a:t>Contribution RST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02920" y="1719072"/>
            <a:ext cx="11155680" cy="1078992"/>
          </a:xfrm>
          <a:prstGeom prst="roundRect">
            <a:avLst>
              <a:gd name="adj" fmla="val 5085"/>
            </a:avLst>
          </a:prstGeom>
          <a:solidFill>
            <a:srgbClr val="F7F9FC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232" y="1874520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C77"/>
                </a:solidFill>
              </a:rPr>
              <a:t>OBJECTIF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965960" y="1819656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F2630"/>
                </a:solidFill>
              </a:rPr>
              <a:t>Mettre à jour et piloter les compétences du service.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13232" y="221284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C77"/>
                </a:solidFill>
              </a:rPr>
              <a:t>INDICATEUR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965960" y="2157984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E6A78"/>
                </a:solidFill>
              </a:rPr>
              <a:t>Tableau DST renseigné, autonomie par essai lisible, besoins de montée en compétence identifiés.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13232" y="2514600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C77"/>
                </a:solidFill>
              </a:rPr>
              <a:t>CIBLE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965960" y="2459736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E6A78"/>
                </a:solidFill>
              </a:rPr>
              <a:t>Vision claire des compétences, de la polyvalence et des besoins d’accompagnement de l’équipe.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13232" y="3090672"/>
            <a:ext cx="5212080" cy="329184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9808" y="3163824"/>
            <a:ext cx="5138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Actions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925312" y="3090672"/>
            <a:ext cx="1920240" cy="329184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61888" y="3163824"/>
            <a:ext cx="18470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Pilote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7845552" y="3090672"/>
            <a:ext cx="1188720" cy="329184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882128" y="3163824"/>
            <a:ext cx="1115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Délai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9034272" y="3090672"/>
            <a:ext cx="2331720" cy="329184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070848" y="3163824"/>
            <a:ext cx="2258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État / efficacité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713232" y="3419856"/>
            <a:ext cx="52120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49808" y="3474720"/>
            <a:ext cx="513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Mettre à jour le tableau officiel DST compétences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5925312" y="3419856"/>
            <a:ext cx="19202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961888" y="3474720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RST + responsables labo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7845552" y="3419856"/>
            <a:ext cx="1188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882128" y="3474720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S1 2026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9034272" y="3419856"/>
            <a:ext cx="2331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070848" y="3474720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À lancer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713232" y="3813048"/>
            <a:ext cx="521208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49808" y="3867912"/>
            <a:ext cx="513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Clarifier les niveaux d’autonomie par type d’essai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5925312" y="3813048"/>
            <a:ext cx="192024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961888" y="3867912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RST + responsables labo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7845552" y="3813048"/>
            <a:ext cx="118872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882128" y="3867912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S1 2026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9034272" y="3813048"/>
            <a:ext cx="233172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070848" y="3867912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À structurer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13232" y="4206240"/>
            <a:ext cx="52120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49808" y="4261104"/>
            <a:ext cx="513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Identifier les besoins de montée en compétence prioritaires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5925312" y="4206240"/>
            <a:ext cx="19202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961888" y="4261104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RST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7845552" y="4206240"/>
            <a:ext cx="1188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882128" y="4261104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S1 2026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9034272" y="4206240"/>
            <a:ext cx="2331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9070848" y="4261104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À structurer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713232" y="4599432"/>
            <a:ext cx="521208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749808" y="4654296"/>
            <a:ext cx="513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Organiser transmission et compagnonnage sur essais clés</a:t>
            </a:r>
            <a:endParaRPr lang="en-US" sz="850" dirty="0"/>
          </a:p>
        </p:txBody>
      </p:sp>
      <p:sp>
        <p:nvSpPr>
          <p:cNvPr id="51" name="Shape 48"/>
          <p:cNvSpPr/>
          <p:nvPr/>
        </p:nvSpPr>
        <p:spPr>
          <a:xfrm>
            <a:off x="5925312" y="4599432"/>
            <a:ext cx="192024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961888" y="4654296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Responsables labo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7845552" y="4599432"/>
            <a:ext cx="118872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882128" y="4654296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2026</a:t>
            </a:r>
            <a:endParaRPr lang="en-US" sz="850" dirty="0"/>
          </a:p>
        </p:txBody>
      </p:sp>
      <p:sp>
        <p:nvSpPr>
          <p:cNvPr id="55" name="Shape 52"/>
          <p:cNvSpPr/>
          <p:nvPr/>
        </p:nvSpPr>
        <p:spPr>
          <a:xfrm>
            <a:off x="9034272" y="4599432"/>
            <a:ext cx="233172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9070848" y="4654296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À formaliser</a:t>
            </a:r>
            <a:endParaRPr lang="en-US" sz="850" dirty="0"/>
          </a:p>
        </p:txBody>
      </p:sp>
      <p:sp>
        <p:nvSpPr>
          <p:cNvPr id="57" name="Shape 54"/>
          <p:cNvSpPr/>
          <p:nvPr/>
        </p:nvSpPr>
        <p:spPr>
          <a:xfrm>
            <a:off x="713232" y="4992624"/>
            <a:ext cx="52120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749808" y="5047488"/>
            <a:ext cx="513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Suivre la polyvalence de l’équipe</a:t>
            </a:r>
            <a:endParaRPr lang="en-US" sz="850" dirty="0"/>
          </a:p>
        </p:txBody>
      </p:sp>
      <p:sp>
        <p:nvSpPr>
          <p:cNvPr id="59" name="Shape 56"/>
          <p:cNvSpPr/>
          <p:nvPr/>
        </p:nvSpPr>
        <p:spPr>
          <a:xfrm>
            <a:off x="5925312" y="4992624"/>
            <a:ext cx="19202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5961888" y="5047488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RST</a:t>
            </a:r>
            <a:endParaRPr lang="en-US" sz="850" dirty="0"/>
          </a:p>
        </p:txBody>
      </p:sp>
      <p:sp>
        <p:nvSpPr>
          <p:cNvPr id="61" name="Shape 58"/>
          <p:cNvSpPr/>
          <p:nvPr/>
        </p:nvSpPr>
        <p:spPr>
          <a:xfrm>
            <a:off x="7845552" y="4992624"/>
            <a:ext cx="1188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7882128" y="5047488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2026</a:t>
            </a:r>
            <a:endParaRPr lang="en-US" sz="850" dirty="0"/>
          </a:p>
        </p:txBody>
      </p:sp>
      <p:sp>
        <p:nvSpPr>
          <p:cNvPr id="63" name="Shape 60"/>
          <p:cNvSpPr/>
          <p:nvPr/>
        </p:nvSpPr>
        <p:spPr>
          <a:xfrm>
            <a:off x="9034272" y="4992624"/>
            <a:ext cx="2331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9070848" y="5047488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À consolider</a:t>
            </a:r>
            <a:endParaRPr lang="en-US" sz="850" dirty="0"/>
          </a:p>
        </p:txBody>
      </p:sp>
      <p:sp>
        <p:nvSpPr>
          <p:cNvPr id="65" name="Text 62"/>
          <p:cNvSpPr/>
          <p:nvPr/>
        </p:nvSpPr>
        <p:spPr>
          <a:xfrm>
            <a:off x="384048" y="651052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C2-LIMITÉ : Propriété de NGE</a:t>
            </a:r>
            <a:endParaRPr lang="en-US" sz="650" dirty="0"/>
          </a:p>
        </p:txBody>
      </p:sp>
      <p:sp>
        <p:nvSpPr>
          <p:cNvPr id="66" name="Text 63"/>
          <p:cNvSpPr/>
          <p:nvPr/>
        </p:nvSpPr>
        <p:spPr>
          <a:xfrm>
            <a:off x="11292840" y="64556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27648"/>
            <a:ext cx="12191695" cy="82296"/>
          </a:xfrm>
          <a:prstGeom prst="rect">
            <a:avLst/>
          </a:prstGeom>
          <a:solidFill>
            <a:srgbClr val="D3AE43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9944"/>
            <a:ext cx="12191695" cy="448056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pic>
        <p:nvPicPr>
          <p:cNvPr id="5" name="Image 0" descr="/mnt/data/nge_logo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01168"/>
            <a:ext cx="960120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7772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FEUILLE DE ROUTE LABORATOIRE — AXE 4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12064" y="126187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E6A7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Équipements de mesure et suivi associé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9162288" y="228600"/>
            <a:ext cx="254203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262872" y="338328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7"/>
                </a:solidFill>
              </a:rPr>
              <a:t>Contribution RST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02920" y="1719072"/>
            <a:ext cx="11155680" cy="1078992"/>
          </a:xfrm>
          <a:prstGeom prst="roundRect">
            <a:avLst>
              <a:gd name="adj" fmla="val 5085"/>
            </a:avLst>
          </a:prstGeom>
          <a:solidFill>
            <a:srgbClr val="F7F9FC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232" y="1874520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C77"/>
                </a:solidFill>
              </a:rPr>
              <a:t>OBJECTIF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965960" y="1819656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F2630"/>
                </a:solidFill>
              </a:rPr>
              <a:t>Reprendre la maîtrise des équipements de mesure et du suivi associé.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13232" y="221284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C77"/>
                </a:solidFill>
              </a:rPr>
              <a:t>INDICATEUR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965960" y="2157984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E6A78"/>
                </a:solidFill>
              </a:rPr>
              <a:t>Inventaire équipements, documents associés centralisés, visibilité sur l’état et le suivi matériel.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13232" y="2514600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C77"/>
                </a:solidFill>
              </a:rPr>
              <a:t>CIBLE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965960" y="2459736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E6A78"/>
                </a:solidFill>
              </a:rPr>
              <a:t>Suivi matériel simple, partagé et démontrable, incluant étalonnages et documents de suivi.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13232" y="3090672"/>
            <a:ext cx="5212080" cy="329184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9808" y="3163824"/>
            <a:ext cx="5138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Actions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925312" y="3090672"/>
            <a:ext cx="1920240" cy="329184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61888" y="3163824"/>
            <a:ext cx="18470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Pilote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7845552" y="3090672"/>
            <a:ext cx="1188720" cy="329184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882128" y="3163824"/>
            <a:ext cx="1115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Délai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9034272" y="3090672"/>
            <a:ext cx="2331720" cy="329184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070848" y="3163824"/>
            <a:ext cx="2258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État / efficacité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713232" y="3419856"/>
            <a:ext cx="52120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49808" y="3474720"/>
            <a:ext cx="513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Recenser les équipements de mesure du laboratoire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5925312" y="3419856"/>
            <a:ext cx="19202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961888" y="3474720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RST + responsables labo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7845552" y="3419856"/>
            <a:ext cx="1188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882128" y="3474720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S1 2026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9034272" y="3419856"/>
            <a:ext cx="2331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070848" y="3474720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À lancer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713232" y="3813048"/>
            <a:ext cx="521208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49808" y="3867912"/>
            <a:ext cx="513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Centraliser les documents associés, notamment étalonnages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5925312" y="3813048"/>
            <a:ext cx="192024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961888" y="3867912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RST + responsables labo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7845552" y="3813048"/>
            <a:ext cx="118872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882128" y="3867912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S1 2026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9034272" y="3813048"/>
            <a:ext cx="233172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070848" y="3867912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À lancer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13232" y="4206240"/>
            <a:ext cx="52120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49808" y="4261104"/>
            <a:ext cx="513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Identifier équipements critiques et points de vigilance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5925312" y="4206240"/>
            <a:ext cx="19202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961888" y="4261104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RST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7845552" y="4206240"/>
            <a:ext cx="1188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882128" y="4261104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S1 2026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9034272" y="4206240"/>
            <a:ext cx="2331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9070848" y="4261104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À structurer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713232" y="4599432"/>
            <a:ext cx="521208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749808" y="4654296"/>
            <a:ext cx="513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Mettre en place un support partagé de suivi matériel</a:t>
            </a:r>
            <a:endParaRPr lang="en-US" sz="850" dirty="0"/>
          </a:p>
        </p:txBody>
      </p:sp>
      <p:sp>
        <p:nvSpPr>
          <p:cNvPr id="51" name="Shape 48"/>
          <p:cNvSpPr/>
          <p:nvPr/>
        </p:nvSpPr>
        <p:spPr>
          <a:xfrm>
            <a:off x="5925312" y="4599432"/>
            <a:ext cx="192024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961888" y="4654296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RST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7845552" y="4599432"/>
            <a:ext cx="118872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882128" y="4654296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2026</a:t>
            </a:r>
            <a:endParaRPr lang="en-US" sz="850" dirty="0"/>
          </a:p>
        </p:txBody>
      </p:sp>
      <p:sp>
        <p:nvSpPr>
          <p:cNvPr id="55" name="Shape 52"/>
          <p:cNvSpPr/>
          <p:nvPr/>
        </p:nvSpPr>
        <p:spPr>
          <a:xfrm>
            <a:off x="9034272" y="4599432"/>
            <a:ext cx="233172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9070848" y="4654296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À structurer</a:t>
            </a:r>
            <a:endParaRPr lang="en-US" sz="850" dirty="0"/>
          </a:p>
        </p:txBody>
      </p:sp>
      <p:sp>
        <p:nvSpPr>
          <p:cNvPr id="57" name="Shape 54"/>
          <p:cNvSpPr/>
          <p:nvPr/>
        </p:nvSpPr>
        <p:spPr>
          <a:xfrm>
            <a:off x="713232" y="4992624"/>
            <a:ext cx="52120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749808" y="5047488"/>
            <a:ext cx="513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Fiabiliser disponibilité et état des équipements</a:t>
            </a:r>
            <a:endParaRPr lang="en-US" sz="850" dirty="0"/>
          </a:p>
        </p:txBody>
      </p:sp>
      <p:sp>
        <p:nvSpPr>
          <p:cNvPr id="59" name="Shape 56"/>
          <p:cNvSpPr/>
          <p:nvPr/>
        </p:nvSpPr>
        <p:spPr>
          <a:xfrm>
            <a:off x="5925312" y="4992624"/>
            <a:ext cx="19202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5961888" y="5047488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Responsables labo</a:t>
            </a:r>
            <a:endParaRPr lang="en-US" sz="850" dirty="0"/>
          </a:p>
        </p:txBody>
      </p:sp>
      <p:sp>
        <p:nvSpPr>
          <p:cNvPr id="61" name="Shape 58"/>
          <p:cNvSpPr/>
          <p:nvPr/>
        </p:nvSpPr>
        <p:spPr>
          <a:xfrm>
            <a:off x="7845552" y="4992624"/>
            <a:ext cx="1188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7882128" y="5047488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2026</a:t>
            </a:r>
            <a:endParaRPr lang="en-US" sz="850" dirty="0"/>
          </a:p>
        </p:txBody>
      </p:sp>
      <p:sp>
        <p:nvSpPr>
          <p:cNvPr id="63" name="Shape 60"/>
          <p:cNvSpPr/>
          <p:nvPr/>
        </p:nvSpPr>
        <p:spPr>
          <a:xfrm>
            <a:off x="9034272" y="4992624"/>
            <a:ext cx="2331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9070848" y="5047488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À consolider</a:t>
            </a:r>
            <a:endParaRPr lang="en-US" sz="850" dirty="0"/>
          </a:p>
        </p:txBody>
      </p:sp>
      <p:sp>
        <p:nvSpPr>
          <p:cNvPr id="65" name="Text 62"/>
          <p:cNvSpPr/>
          <p:nvPr/>
        </p:nvSpPr>
        <p:spPr>
          <a:xfrm>
            <a:off x="384048" y="651052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C2-LIMITÉ : Propriété de NGE</a:t>
            </a:r>
            <a:endParaRPr lang="en-US" sz="650" dirty="0"/>
          </a:p>
        </p:txBody>
      </p:sp>
      <p:sp>
        <p:nvSpPr>
          <p:cNvPr id="66" name="Text 63"/>
          <p:cNvSpPr/>
          <p:nvPr/>
        </p:nvSpPr>
        <p:spPr>
          <a:xfrm>
            <a:off x="11292840" y="64556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27648"/>
            <a:ext cx="12191695" cy="82296"/>
          </a:xfrm>
          <a:prstGeom prst="rect">
            <a:avLst/>
          </a:prstGeom>
          <a:solidFill>
            <a:srgbClr val="D3AE43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9944"/>
            <a:ext cx="12191695" cy="448056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pic>
        <p:nvPicPr>
          <p:cNvPr id="5" name="Image 0" descr="/mnt/data/nge_logo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01168"/>
            <a:ext cx="960120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7772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FEUILLE DE ROUTE LABORATOIRE — AXE 5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12064" y="126187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E6A7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Prévention et gestion des situations d’urgence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9162288" y="228600"/>
            <a:ext cx="254203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262872" y="338328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7"/>
                </a:solidFill>
              </a:rPr>
              <a:t>Contribution RST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02920" y="1719072"/>
            <a:ext cx="11155680" cy="1078992"/>
          </a:xfrm>
          <a:prstGeom prst="roundRect">
            <a:avLst>
              <a:gd name="adj" fmla="val 5085"/>
            </a:avLst>
          </a:prstGeom>
          <a:solidFill>
            <a:srgbClr val="F7F9FC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232" y="1874520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C77"/>
                </a:solidFill>
              </a:rPr>
              <a:t>OBJECTIF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965960" y="1819656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F2630"/>
                </a:solidFill>
              </a:rPr>
              <a:t>Mieux structurer la prévention et la gestion des situations d’urgence.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13232" y="221284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C77"/>
                </a:solidFill>
              </a:rPr>
              <a:t>INDICATEUR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965960" y="2157984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E6A78"/>
                </a:solidFill>
              </a:rPr>
              <a:t>Cadre de gestion des urgences, remontées sécurité lisibles, prévention intégrée aux interventions.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13232" y="2514600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C77"/>
                </a:solidFill>
              </a:rPr>
              <a:t>CIBLE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965960" y="2459736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E6A78"/>
                </a:solidFill>
              </a:rPr>
              <a:t>Gestion des urgences, remontées sécurité et dispositions prévention plus lisibles et démontrables.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13232" y="3090672"/>
            <a:ext cx="5212080" cy="329184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9808" y="3163824"/>
            <a:ext cx="5138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Actions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925312" y="3090672"/>
            <a:ext cx="1920240" cy="329184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61888" y="3163824"/>
            <a:ext cx="18470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Pilote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7845552" y="3090672"/>
            <a:ext cx="1188720" cy="329184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882128" y="3163824"/>
            <a:ext cx="1115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Délai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9034272" y="3090672"/>
            <a:ext cx="2331720" cy="329184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070848" y="3163824"/>
            <a:ext cx="2258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État / efficacité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713232" y="3419856"/>
            <a:ext cx="52120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49808" y="3474720"/>
            <a:ext cx="513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Formaliser une logique de gestion des situations d’urgence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5925312" y="3419856"/>
            <a:ext cx="19202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961888" y="3474720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RST + QSSE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7845552" y="3419856"/>
            <a:ext cx="1188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882128" y="3474720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S1 2026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9034272" y="3419856"/>
            <a:ext cx="2331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070848" y="3474720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À lancer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713232" y="3813048"/>
            <a:ext cx="521208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49808" y="3867912"/>
            <a:ext cx="513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Définir priorisation, escalade et repli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5925312" y="3813048"/>
            <a:ext cx="192024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961888" y="3867912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RST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7845552" y="3813048"/>
            <a:ext cx="118872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882128" y="3867912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S1 2026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9034272" y="3813048"/>
            <a:ext cx="233172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070848" y="3867912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À structurer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13232" y="4206240"/>
            <a:ext cx="52120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49808" y="4261104"/>
            <a:ext cx="513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Structurer remontées presqu’accidents et constats sécurité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5925312" y="4206240"/>
            <a:ext cx="19202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961888" y="4261104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Resp. labo + QSSE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7845552" y="4206240"/>
            <a:ext cx="1188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882128" y="4261104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2026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9034272" y="4206240"/>
            <a:ext cx="2331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9070848" y="4261104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À lancer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713232" y="4599432"/>
            <a:ext cx="521208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749808" y="4654296"/>
            <a:ext cx="513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Intégrer la prévention à la préparation des interventions</a:t>
            </a:r>
            <a:endParaRPr lang="en-US" sz="850" dirty="0"/>
          </a:p>
        </p:txBody>
      </p:sp>
      <p:sp>
        <p:nvSpPr>
          <p:cNvPr id="51" name="Shape 48"/>
          <p:cNvSpPr/>
          <p:nvPr/>
        </p:nvSpPr>
        <p:spPr>
          <a:xfrm>
            <a:off x="5925312" y="4599432"/>
            <a:ext cx="192024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961888" y="4654296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RST + responsables labo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7845552" y="4599432"/>
            <a:ext cx="118872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882128" y="4654296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2026</a:t>
            </a:r>
            <a:endParaRPr lang="en-US" sz="850" dirty="0"/>
          </a:p>
        </p:txBody>
      </p:sp>
      <p:sp>
        <p:nvSpPr>
          <p:cNvPr id="55" name="Shape 52"/>
          <p:cNvSpPr/>
          <p:nvPr/>
        </p:nvSpPr>
        <p:spPr>
          <a:xfrm>
            <a:off x="9034272" y="4599432"/>
            <a:ext cx="233172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9070848" y="4654296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En formalisation</a:t>
            </a:r>
            <a:endParaRPr lang="en-US" sz="850" dirty="0"/>
          </a:p>
        </p:txBody>
      </p:sp>
      <p:sp>
        <p:nvSpPr>
          <p:cNvPr id="57" name="Shape 54"/>
          <p:cNvSpPr/>
          <p:nvPr/>
        </p:nvSpPr>
        <p:spPr>
          <a:xfrm>
            <a:off x="713232" y="4992624"/>
            <a:ext cx="52120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749808" y="5047488"/>
            <a:ext cx="513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Réaliser un exercice ou une mise en situation d’urgence</a:t>
            </a:r>
            <a:endParaRPr lang="en-US" sz="850" dirty="0"/>
          </a:p>
        </p:txBody>
      </p:sp>
      <p:sp>
        <p:nvSpPr>
          <p:cNvPr id="59" name="Shape 56"/>
          <p:cNvSpPr/>
          <p:nvPr/>
        </p:nvSpPr>
        <p:spPr>
          <a:xfrm>
            <a:off x="5925312" y="4992624"/>
            <a:ext cx="19202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5961888" y="5047488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RST + QSSE</a:t>
            </a:r>
            <a:endParaRPr lang="en-US" sz="850" dirty="0"/>
          </a:p>
        </p:txBody>
      </p:sp>
      <p:sp>
        <p:nvSpPr>
          <p:cNvPr id="61" name="Shape 58"/>
          <p:cNvSpPr/>
          <p:nvPr/>
        </p:nvSpPr>
        <p:spPr>
          <a:xfrm>
            <a:off x="7845552" y="4992624"/>
            <a:ext cx="1188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7882128" y="5047488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2026</a:t>
            </a:r>
            <a:endParaRPr lang="en-US" sz="850" dirty="0"/>
          </a:p>
        </p:txBody>
      </p:sp>
      <p:sp>
        <p:nvSpPr>
          <p:cNvPr id="63" name="Shape 60"/>
          <p:cNvSpPr/>
          <p:nvPr/>
        </p:nvSpPr>
        <p:spPr>
          <a:xfrm>
            <a:off x="9034272" y="4992624"/>
            <a:ext cx="2331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9070848" y="5047488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À programmer</a:t>
            </a:r>
            <a:endParaRPr lang="en-US" sz="850" dirty="0"/>
          </a:p>
        </p:txBody>
      </p:sp>
      <p:sp>
        <p:nvSpPr>
          <p:cNvPr id="65" name="Text 62"/>
          <p:cNvSpPr/>
          <p:nvPr/>
        </p:nvSpPr>
        <p:spPr>
          <a:xfrm>
            <a:off x="384048" y="651052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C2-LIMITÉ : Propriété de NGE</a:t>
            </a:r>
            <a:endParaRPr lang="en-US" sz="650" dirty="0"/>
          </a:p>
        </p:txBody>
      </p:sp>
      <p:sp>
        <p:nvSpPr>
          <p:cNvPr id="66" name="Text 63"/>
          <p:cNvSpPr/>
          <p:nvPr/>
        </p:nvSpPr>
        <p:spPr>
          <a:xfrm>
            <a:off x="11292840" y="64556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27648"/>
            <a:ext cx="12191695" cy="82296"/>
          </a:xfrm>
          <a:prstGeom prst="rect">
            <a:avLst/>
          </a:prstGeom>
          <a:solidFill>
            <a:srgbClr val="D3AE43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9944"/>
            <a:ext cx="12191695" cy="448056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pic>
        <p:nvPicPr>
          <p:cNvPr id="5" name="Image 0" descr="/mnt/data/nge_logo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01168"/>
            <a:ext cx="960120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7772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FEUILLE DE ROUTE LABORATOIRE — AXE 6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12064" y="126187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E6A7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Outils digitaux de pilotage et traçabilité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9162288" y="228600"/>
            <a:ext cx="254203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262872" y="338328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7"/>
                </a:solidFill>
              </a:rPr>
              <a:t>Contribution RST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02920" y="1719072"/>
            <a:ext cx="11155680" cy="1078992"/>
          </a:xfrm>
          <a:prstGeom prst="roundRect">
            <a:avLst>
              <a:gd name="adj" fmla="val 5085"/>
            </a:avLst>
          </a:prstGeom>
          <a:solidFill>
            <a:srgbClr val="F7F9FC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232" y="1874520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C77"/>
                </a:solidFill>
              </a:rPr>
              <a:t>OBJECTIF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965960" y="1819656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F2630"/>
                </a:solidFill>
              </a:rPr>
              <a:t>Déployer des outils digitaux utiles au pilotage et à la traçabilité.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13232" y="221284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C77"/>
                </a:solidFill>
              </a:rPr>
              <a:t>INDICATEUR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965960" y="2157984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E6A78"/>
                </a:solidFill>
              </a:rPr>
              <a:t>Meilleure traçabilité des demandes, interventions, constats et restitutions.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13232" y="2514600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C77"/>
                </a:solidFill>
              </a:rPr>
              <a:t>CIBLE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965960" y="2459736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E6A78"/>
                </a:solidFill>
              </a:rPr>
              <a:t>Outils simples pour suivre l’activité, partager l’information et sécuriser les étapes clés.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13232" y="3090672"/>
            <a:ext cx="5212080" cy="329184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9808" y="3163824"/>
            <a:ext cx="5138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Actions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925312" y="3090672"/>
            <a:ext cx="1920240" cy="329184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61888" y="3163824"/>
            <a:ext cx="18470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Pilote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7845552" y="3090672"/>
            <a:ext cx="1188720" cy="329184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882128" y="3163824"/>
            <a:ext cx="1115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Délai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9034272" y="3090672"/>
            <a:ext cx="2331720" cy="329184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070848" y="3163824"/>
            <a:ext cx="2258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État / efficacité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713232" y="3419856"/>
            <a:ext cx="52120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49808" y="3474720"/>
            <a:ext cx="513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Structurer les outils de suivi des demandes et interventions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5925312" y="3419856"/>
            <a:ext cx="19202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961888" y="3474720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RST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7845552" y="3419856"/>
            <a:ext cx="1188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882128" y="3474720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S1 2026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9034272" y="3419856"/>
            <a:ext cx="2331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070848" y="3474720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En cours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713232" y="3813048"/>
            <a:ext cx="521208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49808" y="3867912"/>
            <a:ext cx="513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Tracer demande, préparation, intervention et restitution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5925312" y="3813048"/>
            <a:ext cx="192024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961888" y="3867912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RST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7845552" y="3813048"/>
            <a:ext cx="118872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882128" y="3867912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2026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9034272" y="3813048"/>
            <a:ext cx="233172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070848" y="3867912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En structuration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13232" y="4206240"/>
            <a:ext cx="52120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49808" y="4261104"/>
            <a:ext cx="513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Intégrer constats et relecture dans les outils de suivi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5925312" y="4206240"/>
            <a:ext cx="19202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961888" y="4261104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RST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7845552" y="4206240"/>
            <a:ext cx="1188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882128" y="4261104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2026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9034272" y="4206240"/>
            <a:ext cx="2331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9070848" y="4261104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En cours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713232" y="4599432"/>
            <a:ext cx="521208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749808" y="4654296"/>
            <a:ext cx="513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Centraliser les documents utiles au pilotage</a:t>
            </a:r>
            <a:endParaRPr lang="en-US" sz="850" dirty="0"/>
          </a:p>
        </p:txBody>
      </p:sp>
      <p:sp>
        <p:nvSpPr>
          <p:cNvPr id="51" name="Shape 48"/>
          <p:cNvSpPr/>
          <p:nvPr/>
        </p:nvSpPr>
        <p:spPr>
          <a:xfrm>
            <a:off x="5925312" y="4599432"/>
            <a:ext cx="192024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961888" y="4654296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RST + responsables labo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7845552" y="4599432"/>
            <a:ext cx="118872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882128" y="4654296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2026</a:t>
            </a:r>
            <a:endParaRPr lang="en-US" sz="850" dirty="0"/>
          </a:p>
        </p:txBody>
      </p:sp>
      <p:sp>
        <p:nvSpPr>
          <p:cNvPr id="55" name="Shape 52"/>
          <p:cNvSpPr/>
          <p:nvPr/>
        </p:nvSpPr>
        <p:spPr>
          <a:xfrm>
            <a:off x="9034272" y="4599432"/>
            <a:ext cx="233172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9070848" y="4654296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À consolider</a:t>
            </a:r>
            <a:endParaRPr lang="en-US" sz="850" dirty="0"/>
          </a:p>
        </p:txBody>
      </p:sp>
      <p:sp>
        <p:nvSpPr>
          <p:cNvPr id="57" name="Shape 54"/>
          <p:cNvSpPr/>
          <p:nvPr/>
        </p:nvSpPr>
        <p:spPr>
          <a:xfrm>
            <a:off x="713232" y="4992624"/>
            <a:ext cx="52120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749808" y="5047488"/>
            <a:ext cx="513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Clarifier les règles d’usage des supports digitaux</a:t>
            </a:r>
            <a:endParaRPr lang="en-US" sz="850" dirty="0"/>
          </a:p>
        </p:txBody>
      </p:sp>
      <p:sp>
        <p:nvSpPr>
          <p:cNvPr id="59" name="Shape 56"/>
          <p:cNvSpPr/>
          <p:nvPr/>
        </p:nvSpPr>
        <p:spPr>
          <a:xfrm>
            <a:off x="5925312" y="4992624"/>
            <a:ext cx="19202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5961888" y="5047488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RST + responsables labo</a:t>
            </a:r>
            <a:endParaRPr lang="en-US" sz="850" dirty="0"/>
          </a:p>
        </p:txBody>
      </p:sp>
      <p:sp>
        <p:nvSpPr>
          <p:cNvPr id="61" name="Shape 58"/>
          <p:cNvSpPr/>
          <p:nvPr/>
        </p:nvSpPr>
        <p:spPr>
          <a:xfrm>
            <a:off x="7845552" y="4992624"/>
            <a:ext cx="1188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7882128" y="5047488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2026</a:t>
            </a:r>
            <a:endParaRPr lang="en-US" sz="850" dirty="0"/>
          </a:p>
        </p:txBody>
      </p:sp>
      <p:sp>
        <p:nvSpPr>
          <p:cNvPr id="63" name="Shape 60"/>
          <p:cNvSpPr/>
          <p:nvPr/>
        </p:nvSpPr>
        <p:spPr>
          <a:xfrm>
            <a:off x="9034272" y="4992624"/>
            <a:ext cx="2331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9070848" y="5047488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À structurer</a:t>
            </a:r>
            <a:endParaRPr lang="en-US" sz="850" dirty="0"/>
          </a:p>
        </p:txBody>
      </p:sp>
      <p:sp>
        <p:nvSpPr>
          <p:cNvPr id="65" name="Text 62"/>
          <p:cNvSpPr/>
          <p:nvPr/>
        </p:nvSpPr>
        <p:spPr>
          <a:xfrm>
            <a:off x="384048" y="651052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C2-LIMITÉ : Propriété de NGE</a:t>
            </a:r>
            <a:endParaRPr lang="en-US" sz="650" dirty="0"/>
          </a:p>
        </p:txBody>
      </p:sp>
      <p:sp>
        <p:nvSpPr>
          <p:cNvPr id="66" name="Text 63"/>
          <p:cNvSpPr/>
          <p:nvPr/>
        </p:nvSpPr>
        <p:spPr>
          <a:xfrm>
            <a:off x="11292840" y="64556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27648"/>
            <a:ext cx="12191695" cy="82296"/>
          </a:xfrm>
          <a:prstGeom prst="rect">
            <a:avLst/>
          </a:prstGeom>
          <a:solidFill>
            <a:srgbClr val="D3AE43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9944"/>
            <a:ext cx="12191695" cy="448056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pic>
        <p:nvPicPr>
          <p:cNvPr id="5" name="Image 0" descr="/mnt/data/nge_logo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01168"/>
            <a:ext cx="960120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7772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FEUILLE DE ROUTE LABORATOIRE — AXE 7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12064" y="126187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E6A7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Laboratoire comme appui technique à la décision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9162288" y="228600"/>
            <a:ext cx="254203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262872" y="338328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7"/>
                </a:solidFill>
              </a:rPr>
              <a:t>Contribution RST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02920" y="1719072"/>
            <a:ext cx="11155680" cy="1078992"/>
          </a:xfrm>
          <a:prstGeom prst="roundRect">
            <a:avLst>
              <a:gd name="adj" fmla="val 5085"/>
            </a:avLst>
          </a:prstGeom>
          <a:solidFill>
            <a:srgbClr val="F7F9FC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232" y="1874520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C77"/>
                </a:solidFill>
              </a:rPr>
              <a:t>OBJECTIF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965960" y="1819656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F2630"/>
                </a:solidFill>
              </a:rPr>
              <a:t>Renforcer le rôle du laboratoire comme appui technique à la décision et à la préparation de chantier.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13232" y="221284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C77"/>
                </a:solidFill>
              </a:rPr>
              <a:t>INDICATEUR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965960" y="2157984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E6A78"/>
                </a:solidFill>
              </a:rPr>
              <a:t>Implication visible dans la préparation, lecture technique des résultats et aide à la décision.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13232" y="2514600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C77"/>
                </a:solidFill>
              </a:rPr>
              <a:t>CIBLE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965960" y="2459736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E6A78"/>
                </a:solidFill>
              </a:rPr>
              <a:t>Laboratoire plus visible, anticipé et intégré aux besoins chantier.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13232" y="3090672"/>
            <a:ext cx="5212080" cy="329184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9808" y="3163824"/>
            <a:ext cx="5138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Actions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925312" y="3090672"/>
            <a:ext cx="1920240" cy="329184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61888" y="3163824"/>
            <a:ext cx="18470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Pilote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7845552" y="3090672"/>
            <a:ext cx="1188720" cy="329184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882128" y="3163824"/>
            <a:ext cx="1115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Délai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9034272" y="3090672"/>
            <a:ext cx="2331720" cy="329184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070848" y="3163824"/>
            <a:ext cx="2258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État / efficacité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713232" y="3419856"/>
            <a:ext cx="52120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49808" y="3474720"/>
            <a:ext cx="513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Renforcer l’implication du laboratoire dans la préparation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5925312" y="3419856"/>
            <a:ext cx="19202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961888" y="3474720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RST + responsables labo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7845552" y="3419856"/>
            <a:ext cx="1188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882128" y="3474720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2026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9034272" y="3419856"/>
            <a:ext cx="2331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070848" y="3474720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À consolider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713232" y="3813048"/>
            <a:ext cx="521208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49808" y="3867912"/>
            <a:ext cx="513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Structurer le retour technique utile au chantier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5925312" y="3813048"/>
            <a:ext cx="192024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961888" y="3867912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RST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7845552" y="3813048"/>
            <a:ext cx="118872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882128" y="3867912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2026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9034272" y="3813048"/>
            <a:ext cx="233172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070848" y="3867912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En cours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13232" y="4206240"/>
            <a:ext cx="52120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49808" y="4261104"/>
            <a:ext cx="513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Anticiper besoins de contrôle, interprétation et appui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5925312" y="4206240"/>
            <a:ext cx="19202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961888" y="4261104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RST + exploitation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7845552" y="4206240"/>
            <a:ext cx="1188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882128" y="4261104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2026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9034272" y="4206240"/>
            <a:ext cx="2331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9070848" y="4261104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À structurer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713232" y="4599432"/>
            <a:ext cx="521208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749808" y="4654296"/>
            <a:ext cx="513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Capitaliser les sujets techniques à valeur ajoutée</a:t>
            </a:r>
            <a:endParaRPr lang="en-US" sz="850" dirty="0"/>
          </a:p>
        </p:txBody>
      </p:sp>
      <p:sp>
        <p:nvSpPr>
          <p:cNvPr id="51" name="Shape 48"/>
          <p:cNvSpPr/>
          <p:nvPr/>
        </p:nvSpPr>
        <p:spPr>
          <a:xfrm>
            <a:off x="5925312" y="4599432"/>
            <a:ext cx="192024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961888" y="4654296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RST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7845552" y="4599432"/>
            <a:ext cx="118872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882128" y="4654296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2026</a:t>
            </a:r>
            <a:endParaRPr lang="en-US" sz="850" dirty="0"/>
          </a:p>
        </p:txBody>
      </p:sp>
      <p:sp>
        <p:nvSpPr>
          <p:cNvPr id="55" name="Shape 52"/>
          <p:cNvSpPr/>
          <p:nvPr/>
        </p:nvSpPr>
        <p:spPr>
          <a:xfrm>
            <a:off x="9034272" y="4599432"/>
            <a:ext cx="233172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9070848" y="4654296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À lancer</a:t>
            </a:r>
            <a:endParaRPr lang="en-US" sz="850" dirty="0"/>
          </a:p>
        </p:txBody>
      </p:sp>
      <p:sp>
        <p:nvSpPr>
          <p:cNvPr id="57" name="Shape 54"/>
          <p:cNvSpPr/>
          <p:nvPr/>
        </p:nvSpPr>
        <p:spPr>
          <a:xfrm>
            <a:off x="713232" y="4992624"/>
            <a:ext cx="52120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749808" y="5047488"/>
            <a:ext cx="513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Maintenir l’ouverture sur sujets techniques et environnementaux</a:t>
            </a:r>
            <a:endParaRPr lang="en-US" sz="850" dirty="0"/>
          </a:p>
        </p:txBody>
      </p:sp>
      <p:sp>
        <p:nvSpPr>
          <p:cNvPr id="59" name="Shape 56"/>
          <p:cNvSpPr/>
          <p:nvPr/>
        </p:nvSpPr>
        <p:spPr>
          <a:xfrm>
            <a:off x="5925312" y="4992624"/>
            <a:ext cx="19202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5961888" y="5047488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RST</a:t>
            </a:r>
            <a:endParaRPr lang="en-US" sz="850" dirty="0"/>
          </a:p>
        </p:txBody>
      </p:sp>
      <p:sp>
        <p:nvSpPr>
          <p:cNvPr id="61" name="Shape 58"/>
          <p:cNvSpPr/>
          <p:nvPr/>
        </p:nvSpPr>
        <p:spPr>
          <a:xfrm>
            <a:off x="7845552" y="4992624"/>
            <a:ext cx="1188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7882128" y="5047488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2026</a:t>
            </a:r>
            <a:endParaRPr lang="en-US" sz="850" dirty="0"/>
          </a:p>
        </p:txBody>
      </p:sp>
      <p:sp>
        <p:nvSpPr>
          <p:cNvPr id="63" name="Shape 60"/>
          <p:cNvSpPr/>
          <p:nvPr/>
        </p:nvSpPr>
        <p:spPr>
          <a:xfrm>
            <a:off x="9034272" y="4992624"/>
            <a:ext cx="2331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9070848" y="5047488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En cours</a:t>
            </a:r>
            <a:endParaRPr lang="en-US" sz="850" dirty="0"/>
          </a:p>
        </p:txBody>
      </p:sp>
      <p:sp>
        <p:nvSpPr>
          <p:cNvPr id="65" name="Text 62"/>
          <p:cNvSpPr/>
          <p:nvPr/>
        </p:nvSpPr>
        <p:spPr>
          <a:xfrm>
            <a:off x="384048" y="651052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C2-LIMITÉ : Propriété de NGE</a:t>
            </a:r>
            <a:endParaRPr lang="en-US" sz="650" dirty="0"/>
          </a:p>
        </p:txBody>
      </p:sp>
      <p:sp>
        <p:nvSpPr>
          <p:cNvPr id="66" name="Text 63"/>
          <p:cNvSpPr/>
          <p:nvPr/>
        </p:nvSpPr>
        <p:spPr>
          <a:xfrm>
            <a:off x="11292840" y="64556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27648"/>
            <a:ext cx="12191695" cy="82296"/>
          </a:xfrm>
          <a:prstGeom prst="rect">
            <a:avLst/>
          </a:prstGeom>
          <a:solidFill>
            <a:srgbClr val="D3AE43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9944"/>
            <a:ext cx="12191695" cy="448056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pic>
        <p:nvPicPr>
          <p:cNvPr id="5" name="Image 0" descr="/mnt/data/nge_logo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01168"/>
            <a:ext cx="960120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7772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NOTE MÉTHODOLOGIQUE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512064" y="126187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E6A7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Remontées tardives 2025 suivies à part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9162288" y="228600"/>
            <a:ext cx="254203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262872" y="338328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7"/>
                </a:solidFill>
              </a:rPr>
              <a:t>Contribution RST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1143000" y="1965960"/>
            <a:ext cx="9784080" cy="1828800"/>
          </a:xfrm>
          <a:prstGeom prst="roundRect">
            <a:avLst>
              <a:gd name="adj" fmla="val 4000"/>
            </a:avLst>
          </a:prstGeom>
          <a:solidFill>
            <a:srgbClr val="FFF9ED"/>
          </a:solidFill>
          <a:ln w="16510">
            <a:solidFill>
              <a:srgbClr val="D3AE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508760" y="2331720"/>
            <a:ext cx="9052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2630"/>
                </a:solidFill>
              </a:rPr>
              <a:t>Certaines FNC rattachées à des faits 2025 ont été remontées tardivement.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508760" y="2788920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E6A78"/>
                </a:solidFill>
              </a:rPr>
              <a:t>Elles sont suivies à part afin de ne pas fausser la lecture opérationnelle du trimestre ni l’évolution N / N-1.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508760" y="3246120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854F0B"/>
                </a:solidFill>
              </a:rPr>
              <a:t>Cette note reste méthodologique : elle ne porte pas la présentation.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384048" y="651052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C2-LIMITÉ : Propriété de NGE</a:t>
            </a:r>
            <a:endParaRPr lang="en-US" sz="650" dirty="0"/>
          </a:p>
        </p:txBody>
      </p:sp>
      <p:sp>
        <p:nvSpPr>
          <p:cNvPr id="15" name="Text 12"/>
          <p:cNvSpPr/>
          <p:nvPr/>
        </p:nvSpPr>
        <p:spPr>
          <a:xfrm>
            <a:off x="11292840" y="64556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27648"/>
            <a:ext cx="12191695" cy="82296"/>
          </a:xfrm>
          <a:prstGeom prst="rect">
            <a:avLst/>
          </a:prstGeom>
          <a:solidFill>
            <a:srgbClr val="D3AE43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9944"/>
            <a:ext cx="12191695" cy="448056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pic>
        <p:nvPicPr>
          <p:cNvPr id="5" name="Image 0" descr="/mnt/data/nge_logo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01168"/>
            <a:ext cx="960120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7772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SYNTHÈSE À SUIVRE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512064" y="126187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E6A7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Performance QSE &amp; feuille de route laboratoire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9162288" y="228600"/>
            <a:ext cx="254203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262872" y="338328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7"/>
                </a:solidFill>
              </a:rPr>
              <a:t>Contribution RST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822960" y="1691640"/>
            <a:ext cx="104241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181051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2C77"/>
                </a:solidFill>
              </a:rPr>
              <a:t>Trimestre passé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749040" y="1810512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F2630"/>
                </a:solidFill>
              </a:rPr>
              <a:t>bilan consolidé et familles dominantes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22960" y="2350008"/>
            <a:ext cx="10424160" cy="475488"/>
          </a:xfrm>
          <a:prstGeom prst="roundRect">
            <a:avLst>
              <a:gd name="adj" fmla="val 11538"/>
            </a:avLst>
          </a:prstGeom>
          <a:solidFill>
            <a:srgbClr val="F7F9FC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05840" y="246888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2C77"/>
                </a:solidFill>
              </a:rPr>
              <a:t>Trimestre en cours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3749040" y="2468880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F2630"/>
                </a:solidFill>
              </a:rPr>
              <a:t>suivi à date, actions ouvertes et vigilance</a:t>
            </a:r>
            <a:endParaRPr lang="en-US" sz="1120" dirty="0"/>
          </a:p>
        </p:txBody>
      </p:sp>
      <p:sp>
        <p:nvSpPr>
          <p:cNvPr id="16" name="Shape 13"/>
          <p:cNvSpPr/>
          <p:nvPr/>
        </p:nvSpPr>
        <p:spPr>
          <a:xfrm>
            <a:off x="822960" y="3008376"/>
            <a:ext cx="104241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05840" y="312724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2C77"/>
                </a:solidFill>
              </a:rPr>
              <a:t>Évolution N / N-1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3749040" y="3127248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F2630"/>
                </a:solidFill>
              </a:rPr>
              <a:t>même période, hors éléments suivis à part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822960" y="3666744"/>
            <a:ext cx="10424160" cy="475488"/>
          </a:xfrm>
          <a:prstGeom prst="roundRect">
            <a:avLst>
              <a:gd name="adj" fmla="val 11538"/>
            </a:avLst>
          </a:prstGeom>
          <a:solidFill>
            <a:srgbClr val="F7F9FC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05840" y="378561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2C77"/>
                </a:solidFill>
              </a:rPr>
              <a:t>Plan d’actions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3749040" y="3785616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F2630"/>
                </a:solidFill>
              </a:rPr>
              <a:t>réalisé, en cours, en retard, à suivre</a:t>
            </a:r>
            <a:endParaRPr lang="en-US" sz="1120" dirty="0"/>
          </a:p>
        </p:txBody>
      </p:sp>
      <p:sp>
        <p:nvSpPr>
          <p:cNvPr id="22" name="Shape 19"/>
          <p:cNvSpPr/>
          <p:nvPr/>
        </p:nvSpPr>
        <p:spPr>
          <a:xfrm>
            <a:off x="822960" y="4325112"/>
            <a:ext cx="104241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05840" y="444398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2C77"/>
                </a:solidFill>
              </a:rPr>
              <a:t>Feuille de route labo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3749040" y="4443984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F2630"/>
                </a:solidFill>
              </a:rPr>
              <a:t>compétences, métrologie, équipements, méthodes</a:t>
            </a:r>
            <a:endParaRPr lang="en-US" sz="1120" dirty="0"/>
          </a:p>
        </p:txBody>
      </p:sp>
      <p:sp>
        <p:nvSpPr>
          <p:cNvPr id="25" name="Text 22"/>
          <p:cNvSpPr/>
          <p:nvPr/>
        </p:nvSpPr>
        <p:spPr>
          <a:xfrm>
            <a:off x="384048" y="651052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C2-LIMITÉ : Propriété de NGE</a:t>
            </a:r>
            <a:endParaRPr lang="en-US" sz="650" dirty="0"/>
          </a:p>
        </p:txBody>
      </p:sp>
      <p:sp>
        <p:nvSpPr>
          <p:cNvPr id="26" name="Text 23"/>
          <p:cNvSpPr/>
          <p:nvPr/>
        </p:nvSpPr>
        <p:spPr>
          <a:xfrm>
            <a:off x="11292840" y="64556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02C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pic>
        <p:nvPicPr>
          <p:cNvPr id="3" name="Image 0" descr="/mnt/data/nge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01168"/>
            <a:ext cx="960120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82880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PERFORMANCE QSE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777240" y="2697480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EAF1FA"/>
                </a:solidFill>
              </a:rPr>
              <a:t>Analyse des écarts · feuille de route laboratoire · contribution RST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0" y="5394960"/>
            <a:ext cx="12191695" cy="219456"/>
          </a:xfrm>
          <a:prstGeom prst="rect">
            <a:avLst/>
          </a:prstGeom>
          <a:solidFill>
            <a:srgbClr val="D3AE43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1052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C2-LIMITÉ : Propriété de NGE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11292840" y="64556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entury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entury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NGE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CODIR QSE - Performance &amp; feuille de route laboratoire</dc:title>
  <dc:subject>CODIR QSE - Performance / RST</dc:subject>
  <dc:creator>OpenAI</dc:creator>
  <cp:lastModifiedBy>OpenAI</cp:lastModifiedBy>
  <cp:revision>1</cp:revision>
  <dcterms:created xsi:type="dcterms:W3CDTF">2026-05-19T18:05:41Z</dcterms:created>
  <dcterms:modified xsi:type="dcterms:W3CDTF">2026-05-19T18:05:41Z</dcterms:modified>
</cp:coreProperties>
</file>